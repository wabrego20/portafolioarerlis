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2"/>
  </p:notesMasterIdLst>
  <p:sldIdLst>
    <p:sldId id="256" r:id="rId2"/>
    <p:sldId id="385" r:id="rId3"/>
    <p:sldId id="386" r:id="rId4"/>
    <p:sldId id="387" r:id="rId5"/>
    <p:sldId id="401" r:id="rId6"/>
    <p:sldId id="415" r:id="rId7"/>
    <p:sldId id="414" r:id="rId8"/>
    <p:sldId id="389" r:id="rId9"/>
    <p:sldId id="390" r:id="rId10"/>
    <p:sldId id="391" r:id="rId11"/>
    <p:sldId id="392" r:id="rId12"/>
    <p:sldId id="393" r:id="rId13"/>
    <p:sldId id="394" r:id="rId14"/>
    <p:sldId id="395" r:id="rId15"/>
    <p:sldId id="396" r:id="rId16"/>
    <p:sldId id="397" r:id="rId17"/>
    <p:sldId id="400" r:id="rId18"/>
    <p:sldId id="417" r:id="rId19"/>
    <p:sldId id="419" r:id="rId20"/>
    <p:sldId id="420" r:id="rId21"/>
    <p:sldId id="421" r:id="rId22"/>
    <p:sldId id="422" r:id="rId23"/>
    <p:sldId id="423" r:id="rId24"/>
    <p:sldId id="424" r:id="rId25"/>
    <p:sldId id="425" r:id="rId26"/>
    <p:sldId id="428" r:id="rId27"/>
    <p:sldId id="429" r:id="rId28"/>
    <p:sldId id="426" r:id="rId29"/>
    <p:sldId id="257" r:id="rId30"/>
    <p:sldId id="258" r:id="rId31"/>
    <p:sldId id="259" r:id="rId32"/>
    <p:sldId id="260" r:id="rId33"/>
    <p:sldId id="261" r:id="rId34"/>
    <p:sldId id="262" r:id="rId35"/>
    <p:sldId id="263"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 id="276" r:id="rId49"/>
    <p:sldId id="277" r:id="rId50"/>
    <p:sldId id="278" r:id="rId51"/>
    <p:sldId id="279" r:id="rId52"/>
    <p:sldId id="280" r:id="rId53"/>
    <p:sldId id="434" r:id="rId54"/>
    <p:sldId id="427" r:id="rId55"/>
    <p:sldId id="435" r:id="rId56"/>
    <p:sldId id="388" r:id="rId57"/>
    <p:sldId id="432" r:id="rId58"/>
    <p:sldId id="284" r:id="rId59"/>
    <p:sldId id="341" r:id="rId60"/>
    <p:sldId id="339" r:id="rId61"/>
  </p:sldIdLst>
  <p:sldSz cx="12192000" cy="6858000"/>
  <p:notesSz cx="6858000" cy="9144000"/>
  <p:embeddedFontLst>
    <p:embeddedFont>
      <p:font typeface="ADLaM Display" panose="02010000000000000000" pitchFamily="2" charset="0"/>
      <p:regular r:id="rId63"/>
    </p:embeddedFont>
    <p:embeddedFont>
      <p:font typeface="Georgia" panose="02040502050405020303" pitchFamily="18" charset="0"/>
      <p:regular r:id="rId64"/>
      <p:bold r:id="rId65"/>
      <p:italic r:id="rId66"/>
      <p:boldItalic r:id="rId67"/>
    </p:embeddedFont>
    <p:embeddedFont>
      <p:font typeface="Gill Sans" panose="020B0604020202020204" charset="0"/>
      <p:regular r:id="rId68"/>
      <p:bold r:id="rId69"/>
    </p:embeddedFont>
    <p:embeddedFont>
      <p:font typeface="Mukta Light" panose="020B0604020202020204" charset="0"/>
      <p:regular r:id="rId70"/>
    </p:embeddedFont>
    <p:embeddedFont>
      <p:font typeface="Prompt Medium" panose="00000600000000000000" pitchFamily="2" charset="-34"/>
      <p:regular r:id="rId71"/>
      <p: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99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00025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59742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94051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1676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64257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1910080" y="359898"/>
            <a:ext cx="9875520" cy="147218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C22DA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910080" y="1850064"/>
            <a:ext cx="9875520" cy="175260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761363"/>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19" name="Google Shape;19;p2"/>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
        <p:nvSpPr>
          <p:cNvPr id="22" name="Google Shape;22;p2"/>
          <p:cNvSpPr/>
          <p:nvPr/>
        </p:nvSpPr>
        <p:spPr>
          <a:xfrm>
            <a:off x="1228577" y="1413802"/>
            <a:ext cx="280416" cy="210312"/>
          </a:xfrm>
          <a:prstGeom prst="ellipse">
            <a:avLst/>
          </a:prstGeom>
          <a:gradFill>
            <a:gsLst>
              <a:gs pos="0">
                <a:srgbClr val="FFD4DD">
                  <a:alpha val="94901"/>
                </a:srgbClr>
              </a:gs>
              <a:gs pos="50000">
                <a:srgbClr val="F8BECB">
                  <a:alpha val="89803"/>
                </a:srgbClr>
              </a:gs>
              <a:gs pos="95000">
                <a:srgbClr val="FD5E87">
                  <a:alpha val="87843"/>
                </a:srgbClr>
              </a:gs>
              <a:gs pos="100000">
                <a:srgbClr val="FF0047">
                  <a:alpha val="84705"/>
                </a:srgbClr>
              </a:gs>
            </a:gsLst>
            <a:path path="circle">
              <a:fillToRect r="100000" b="100000"/>
            </a:path>
            <a:tileRect l="-100000" t="-100000"/>
          </a:gradFill>
          <a:ln w="9525" cap="rnd" cmpd="sng">
            <a:solidFill>
              <a:srgbClr val="B43461">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23" name="Google Shape;23;p2"/>
          <p:cNvSpPr/>
          <p:nvPr/>
        </p:nvSpPr>
        <p:spPr>
          <a:xfrm>
            <a:off x="1542901" y="1345016"/>
            <a:ext cx="85344" cy="64008"/>
          </a:xfrm>
          <a:prstGeom prst="ellipse">
            <a:avLst/>
          </a:prstGeom>
          <a:noFill/>
          <a:ln w="12700" cap="rnd" cmpd="sng">
            <a:solidFill>
              <a:srgbClr val="A1355B">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1914144" y="274638"/>
            <a:ext cx="999744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22DA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
          <p:cNvSpPr txBox="1">
            <a:spLocks noGrp="1"/>
          </p:cNvSpPr>
          <p:nvPr>
            <p:ph type="body" idx="1"/>
          </p:nvPr>
        </p:nvSpPr>
        <p:spPr>
          <a:xfrm>
            <a:off x="1914144" y="1447800"/>
            <a:ext cx="9997440" cy="48006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7" name="Google Shape;27;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30"/>
        <p:cNvGrpSpPr/>
        <p:nvPr/>
      </p:nvGrpSpPr>
      <p:grpSpPr>
        <a:xfrm>
          <a:off x="0" y="0"/>
          <a:ext cx="0" cy="0"/>
          <a:chOff x="0" y="0"/>
          <a:chExt cx="0" cy="0"/>
        </a:xfrm>
      </p:grpSpPr>
      <p:sp>
        <p:nvSpPr>
          <p:cNvPr id="31" name="Google Shape;31;p4"/>
          <p:cNvSpPr/>
          <p:nvPr/>
        </p:nvSpPr>
        <p:spPr>
          <a:xfrm>
            <a:off x="3043853" y="-54"/>
            <a:ext cx="9144000"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2" name="Google Shape;32;p4"/>
          <p:cNvSpPr txBox="1">
            <a:spLocks noGrp="1"/>
          </p:cNvSpPr>
          <p:nvPr>
            <p:ph type="title"/>
          </p:nvPr>
        </p:nvSpPr>
        <p:spPr>
          <a:xfrm>
            <a:off x="3437856" y="2600325"/>
            <a:ext cx="8534400" cy="2286000"/>
          </a:xfrm>
          <a:prstGeom prst="rect">
            <a:avLst/>
          </a:prstGeom>
          <a:noFill/>
          <a:ln>
            <a:noFill/>
          </a:ln>
        </p:spPr>
        <p:txBody>
          <a:bodyPr spcFirstLastPara="1" wrap="square" lIns="91425" tIns="45700" rIns="91425" bIns="45700" anchor="t" anchorCtr="0">
            <a:normAutofit/>
          </a:bodyPr>
          <a:lstStyle>
            <a:lvl1pPr lvl="0" algn="l">
              <a:lnSpc>
                <a:spcPct val="112500"/>
              </a:lnSpc>
              <a:spcBef>
                <a:spcPts val="0"/>
              </a:spcBef>
              <a:spcAft>
                <a:spcPts val="0"/>
              </a:spcAft>
              <a:buClr>
                <a:srgbClr val="C22DA4"/>
              </a:buClr>
              <a:buSzPts val="4000"/>
              <a:buFont typeface="Gill Sans"/>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3437856" y="1066800"/>
            <a:ext cx="8534400" cy="1509712"/>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761363"/>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4" name="Google Shape;34;p4"/>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
        <p:nvSpPr>
          <p:cNvPr id="37" name="Google Shape;37;p4"/>
          <p:cNvSpPr/>
          <p:nvPr/>
        </p:nvSpPr>
        <p:spPr>
          <a:xfrm>
            <a:off x="3048000" y="0"/>
            <a:ext cx="101600" cy="6858054"/>
          </a:xfrm>
          <a:prstGeom prst="rect">
            <a:avLst/>
          </a:prstGeom>
          <a:solidFill>
            <a:schemeClr val="lt1"/>
          </a:solidFill>
          <a:ln>
            <a:noFill/>
          </a:ln>
          <a:effectLst>
            <a:outerShdw blurRad="38550" dist="38000" dir="10800000" algn="tl" rotWithShape="0">
              <a:srgbClr val="756E72">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8" name="Google Shape;38;p4"/>
          <p:cNvSpPr/>
          <p:nvPr/>
        </p:nvSpPr>
        <p:spPr>
          <a:xfrm>
            <a:off x="2896428" y="2814656"/>
            <a:ext cx="280416" cy="210312"/>
          </a:xfrm>
          <a:prstGeom prst="ellipse">
            <a:avLst/>
          </a:prstGeom>
          <a:gradFill>
            <a:gsLst>
              <a:gs pos="0">
                <a:srgbClr val="FFD4DD">
                  <a:alpha val="94901"/>
                </a:srgbClr>
              </a:gs>
              <a:gs pos="50000">
                <a:srgbClr val="F8BECB">
                  <a:alpha val="89803"/>
                </a:srgbClr>
              </a:gs>
              <a:gs pos="95000">
                <a:srgbClr val="FD5E87">
                  <a:alpha val="87843"/>
                </a:srgbClr>
              </a:gs>
              <a:gs pos="100000">
                <a:srgbClr val="FF0047">
                  <a:alpha val="84705"/>
                </a:srgbClr>
              </a:gs>
            </a:gsLst>
            <a:path path="circle">
              <a:fillToRect r="100000" b="100000"/>
            </a:path>
            <a:tileRect l="-100000" t="-100000"/>
          </a:gradFill>
          <a:ln w="9525" cap="rnd" cmpd="sng">
            <a:solidFill>
              <a:srgbClr val="B43461">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39" name="Google Shape;39;p4"/>
          <p:cNvSpPr/>
          <p:nvPr/>
        </p:nvSpPr>
        <p:spPr>
          <a:xfrm>
            <a:off x="3210752" y="2745870"/>
            <a:ext cx="85344" cy="64008"/>
          </a:xfrm>
          <a:prstGeom prst="ellipse">
            <a:avLst/>
          </a:prstGeom>
          <a:noFill/>
          <a:ln w="12700" cap="rnd" cmpd="sng">
            <a:solidFill>
              <a:srgbClr val="A1355B">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914144" y="274320"/>
            <a:ext cx="999744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22DA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1914144" y="1524000"/>
            <a:ext cx="487680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3" name="Google Shape;43;p5"/>
          <p:cNvSpPr txBox="1">
            <a:spLocks noGrp="1"/>
          </p:cNvSpPr>
          <p:nvPr>
            <p:ph type="body" idx="2"/>
          </p:nvPr>
        </p:nvSpPr>
        <p:spPr>
          <a:xfrm>
            <a:off x="7034784" y="1524000"/>
            <a:ext cx="487680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4" name="Google Shape;44;p5"/>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5"/>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ación" type="twoTxTwoObj">
  <p:cSld name="TWO_OBJECTS_WITH_TEXT">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609600" y="5160336"/>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C22DA4"/>
              </a:buClr>
              <a:buSzPts val="4500"/>
              <a:buFont typeface="Gill Sans"/>
              <a:buNone/>
              <a:defRPr sz="45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6"/>
          <p:cNvSpPr txBox="1">
            <a:spLocks noGrp="1"/>
          </p:cNvSpPr>
          <p:nvPr>
            <p:ph type="body" idx="1"/>
          </p:nvPr>
        </p:nvSpPr>
        <p:spPr>
          <a:xfrm>
            <a:off x="609600" y="328278"/>
            <a:ext cx="5364480"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0" name="Google Shape;50;p6"/>
          <p:cNvSpPr txBox="1">
            <a:spLocks noGrp="1"/>
          </p:cNvSpPr>
          <p:nvPr>
            <p:ph type="body" idx="2"/>
          </p:nvPr>
        </p:nvSpPr>
        <p:spPr>
          <a:xfrm>
            <a:off x="6217920" y="328278"/>
            <a:ext cx="5364480"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1" name="Google Shape;51;p6"/>
          <p:cNvSpPr txBox="1">
            <a:spLocks noGrp="1"/>
          </p:cNvSpPr>
          <p:nvPr>
            <p:ph type="body" idx="3"/>
          </p:nvPr>
        </p:nvSpPr>
        <p:spPr>
          <a:xfrm>
            <a:off x="609600" y="969336"/>
            <a:ext cx="5364480"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2" name="Google Shape;52;p6"/>
          <p:cNvSpPr txBox="1">
            <a:spLocks noGrp="1"/>
          </p:cNvSpPr>
          <p:nvPr>
            <p:ph type="body" idx="4"/>
          </p:nvPr>
        </p:nvSpPr>
        <p:spPr>
          <a:xfrm>
            <a:off x="6217920" y="969336"/>
            <a:ext cx="5364480"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3" name="Google Shape;53;p6"/>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61"/>
        <p:cNvGrpSpPr/>
        <p:nvPr/>
      </p:nvGrpSpPr>
      <p:grpSpPr>
        <a:xfrm>
          <a:off x="0" y="0"/>
          <a:ext cx="0" cy="0"/>
          <a:chOff x="0" y="0"/>
          <a:chExt cx="0" cy="0"/>
        </a:xfrm>
      </p:grpSpPr>
      <p:sp>
        <p:nvSpPr>
          <p:cNvPr id="62" name="Google Shape;62;p8"/>
          <p:cNvSpPr/>
          <p:nvPr/>
        </p:nvSpPr>
        <p:spPr>
          <a:xfrm>
            <a:off x="1353312" y="0"/>
            <a:ext cx="10838688"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3" name="Google Shape;63;p8"/>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
        <p:nvSpPr>
          <p:cNvPr id="66" name="Google Shape;66;p8"/>
          <p:cNvSpPr/>
          <p:nvPr/>
        </p:nvSpPr>
        <p:spPr>
          <a:xfrm>
            <a:off x="1353312" y="-54"/>
            <a:ext cx="97536" cy="6858054"/>
          </a:xfrm>
          <a:prstGeom prst="rect">
            <a:avLst/>
          </a:prstGeom>
          <a:solidFill>
            <a:schemeClr val="lt1"/>
          </a:solidFill>
          <a:ln>
            <a:noFill/>
          </a:ln>
          <a:effectLst>
            <a:outerShdw blurRad="38550" dist="38000" dir="10800000" algn="tl" rotWithShape="0">
              <a:srgbClr val="756E72">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609600" y="216778"/>
            <a:ext cx="5080000" cy="1162050"/>
          </a:xfrm>
          <a:prstGeom prst="rect">
            <a:avLst/>
          </a:prstGeom>
          <a:noFill/>
          <a:ln>
            <a:noFill/>
          </a:ln>
        </p:spPr>
        <p:txBody>
          <a:bodyPr spcFirstLastPara="1" wrap="square" lIns="91425" tIns="45700" rIns="91425" bIns="45700" anchor="b" anchorCtr="0">
            <a:normAutofit/>
          </a:bodyPr>
          <a:lstStyle>
            <a:lvl1pPr lvl="0" algn="l">
              <a:lnSpc>
                <a:spcPct val="90909"/>
              </a:lnSpc>
              <a:spcBef>
                <a:spcPts val="0"/>
              </a:spcBef>
              <a:spcAft>
                <a:spcPts val="0"/>
              </a:spcAft>
              <a:buClr>
                <a:srgbClr val="C22DA4"/>
              </a:buClr>
              <a:buSzPts val="2200"/>
              <a:buFont typeface="Gill Sans"/>
              <a:buNone/>
              <a:defRPr sz="2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body" idx="1"/>
          </p:nvPr>
        </p:nvSpPr>
        <p:spPr>
          <a:xfrm>
            <a:off x="609600" y="1406964"/>
            <a:ext cx="5080000" cy="698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0" name="Google Shape;70;p9"/>
          <p:cNvSpPr txBox="1">
            <a:spLocks noGrp="1"/>
          </p:cNvSpPr>
          <p:nvPr>
            <p:ph type="body" idx="2"/>
          </p:nvPr>
        </p:nvSpPr>
        <p:spPr>
          <a:xfrm>
            <a:off x="609600" y="2133601"/>
            <a:ext cx="10871200" cy="3992563"/>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1" name="Google Shape;71;p9"/>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74"/>
        <p:cNvGrpSpPr/>
        <p:nvPr/>
      </p:nvGrpSpPr>
      <p:grpSpPr>
        <a:xfrm>
          <a:off x="0" y="0"/>
          <a:ext cx="0" cy="0"/>
          <a:chOff x="0" y="0"/>
          <a:chExt cx="0" cy="0"/>
        </a:xfrm>
      </p:grpSpPr>
      <p:sp>
        <p:nvSpPr>
          <p:cNvPr id="75" name="Google Shape;75;p10"/>
          <p:cNvSpPr txBox="1">
            <a:spLocks noGrp="1"/>
          </p:cNvSpPr>
          <p:nvPr>
            <p:ph type="title"/>
          </p:nvPr>
        </p:nvSpPr>
        <p:spPr>
          <a:xfrm>
            <a:off x="7849195" y="1066800"/>
            <a:ext cx="3657600" cy="1981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C22DA4"/>
              </a:buClr>
              <a:buSzPts val="2100"/>
              <a:buFont typeface="Gill Sans"/>
              <a:buNone/>
              <a:defRPr sz="2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0"/>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
        <p:nvSpPr>
          <p:cNvPr id="79" name="Google Shape;79;p10"/>
          <p:cNvSpPr/>
          <p:nvPr/>
        </p:nvSpPr>
        <p:spPr>
          <a:xfrm>
            <a:off x="1016000" y="1066800"/>
            <a:ext cx="6096000" cy="4572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901"/>
              </a:srgbClr>
            </a:outerShdw>
          </a:effectLst>
        </p:spPr>
        <p:txBody>
          <a:bodyPr spcFirstLastPara="1" wrap="square" lIns="91425" tIns="274300" rIns="91425" bIns="45700" anchor="t" anchorCtr="0">
            <a:noAutofit/>
          </a:bodyPr>
          <a:lstStyle/>
          <a:p>
            <a:pPr marL="0" marR="0" lvl="0" indent="0" algn="l" rtl="0">
              <a:lnSpc>
                <a:spcPct val="93750"/>
              </a:lnSpc>
              <a:spcBef>
                <a:spcPts val="0"/>
              </a:spcBef>
              <a:spcAft>
                <a:spcPts val="0"/>
              </a:spcAft>
              <a:buClr>
                <a:schemeClr val="accent1"/>
              </a:buClr>
              <a:buSzPts val="2560"/>
              <a:buFont typeface="Noto Sans Symbols"/>
              <a:buNone/>
            </a:pPr>
            <a:endParaRPr sz="3200">
              <a:solidFill>
                <a:schemeClr val="dk1"/>
              </a:solidFill>
              <a:latin typeface="Gill Sans"/>
              <a:ea typeface="Gill Sans"/>
              <a:cs typeface="Gill Sans"/>
              <a:sym typeface="Gill Sans"/>
            </a:endParaRPr>
          </a:p>
        </p:txBody>
      </p:sp>
      <p:sp>
        <p:nvSpPr>
          <p:cNvPr id="80" name="Google Shape;80;p10"/>
          <p:cNvSpPr>
            <a:spLocks noGrp="1"/>
          </p:cNvSpPr>
          <p:nvPr>
            <p:ph type="pic" idx="2"/>
          </p:nvPr>
        </p:nvSpPr>
        <p:spPr>
          <a:xfrm>
            <a:off x="1117600" y="1143004"/>
            <a:ext cx="5892800" cy="3514531"/>
          </a:xfrm>
          <a:prstGeom prst="roundRect">
            <a:avLst>
              <a:gd name="adj" fmla="val 783"/>
            </a:avLst>
          </a:prstGeom>
          <a:solidFill>
            <a:schemeClr val="lt2"/>
          </a:solidFill>
          <a:ln>
            <a:noFill/>
          </a:ln>
        </p:spPr>
      </p:sp>
      <p:sp>
        <p:nvSpPr>
          <p:cNvPr id="81" name="Google Shape;81;p10"/>
          <p:cNvSpPr/>
          <p:nvPr/>
        </p:nvSpPr>
        <p:spPr>
          <a:xfrm rot="-2131329">
            <a:off x="528967" y="954341"/>
            <a:ext cx="914400" cy="204310"/>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rgbClr val="EED5E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2" name="Google Shape;82;p10"/>
          <p:cNvSpPr/>
          <p:nvPr/>
        </p:nvSpPr>
        <p:spPr>
          <a:xfrm rot="2103354" flipH="1">
            <a:off x="6671556" y="936786"/>
            <a:ext cx="865632" cy="204310"/>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3" name="Google Shape;83;p10"/>
          <p:cNvSpPr txBox="1">
            <a:spLocks noGrp="1"/>
          </p:cNvSpPr>
          <p:nvPr>
            <p:ph type="body" idx="1"/>
          </p:nvPr>
        </p:nvSpPr>
        <p:spPr>
          <a:xfrm>
            <a:off x="1117600" y="4800600"/>
            <a:ext cx="5892800"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114285"/>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1914144" y="274638"/>
            <a:ext cx="999744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22DA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1"/>
          <p:cNvSpPr txBox="1">
            <a:spLocks noGrp="1"/>
          </p:cNvSpPr>
          <p:nvPr>
            <p:ph type="body" idx="1"/>
          </p:nvPr>
        </p:nvSpPr>
        <p:spPr>
          <a:xfrm rot="5400000">
            <a:off x="4512564" y="-1150620"/>
            <a:ext cx="4800600" cy="999744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7" name="Google Shape;87;p11"/>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1"/>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0"/>
        <p:cNvGrpSpPr/>
        <p:nvPr/>
      </p:nvGrpSpPr>
      <p:grpSpPr>
        <a:xfrm>
          <a:off x="0" y="0"/>
          <a:ext cx="0" cy="0"/>
          <a:chOff x="0" y="0"/>
          <a:chExt cx="0" cy="0"/>
        </a:xfrm>
      </p:grpSpPr>
      <p:sp>
        <p:nvSpPr>
          <p:cNvPr id="91" name="Google Shape;91;p12"/>
          <p:cNvSpPr txBox="1">
            <a:spLocks noGrp="1"/>
          </p:cNvSpPr>
          <p:nvPr>
            <p:ph type="title"/>
          </p:nvPr>
        </p:nvSpPr>
        <p:spPr>
          <a:xfrm rot="5400000">
            <a:off x="7437439" y="1981202"/>
            <a:ext cx="5851525" cy="2438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22DA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2"/>
          <p:cNvSpPr txBox="1">
            <a:spLocks noGrp="1"/>
          </p:cNvSpPr>
          <p:nvPr>
            <p:ph type="body" idx="1"/>
          </p:nvPr>
        </p:nvSpPr>
        <p:spPr>
          <a:xfrm rot="5400000">
            <a:off x="2306639" y="-507997"/>
            <a:ext cx="5851525" cy="74168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3" name="Google Shape;93;p12"/>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2"/>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ólo el título" type="titleOnly">
  <p:cSld name="Sólo el título">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1914144" y="274320"/>
            <a:ext cx="999744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22DA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7"/>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s-PA" smtClean="0"/>
              <a:pPr/>
              <a:t>‹Nº›</a:t>
            </a:fld>
            <a:endParaRPr lang="es-PA"/>
          </a:p>
        </p:txBody>
      </p:sp>
    </p:spTree>
    <p:extLst>
      <p:ext uri="{BB962C8B-B14F-4D97-AF65-F5344CB8AC3E}">
        <p14:creationId xmlns:p14="http://schemas.microsoft.com/office/powerpoint/2010/main" val="15413889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0699347" y="6457950"/>
            <a:ext cx="1435504" cy="342900"/>
          </a:xfrm>
          <a:prstGeom prst="rect">
            <a:avLst/>
          </a:prstGeom>
        </p:spPr>
      </p:pic>
    </p:spTree>
    <p:extLst>
      <p:ext uri="{BB962C8B-B14F-4D97-AF65-F5344CB8AC3E}">
        <p14:creationId xmlns:p14="http://schemas.microsoft.com/office/powerpoint/2010/main" val="892102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0699347" y="6457950"/>
            <a:ext cx="1435504" cy="342900"/>
          </a:xfrm>
          <a:prstGeom prst="rect">
            <a:avLst/>
          </a:prstGeom>
        </p:spPr>
      </p:pic>
    </p:spTree>
    <p:extLst>
      <p:ext uri="{BB962C8B-B14F-4D97-AF65-F5344CB8AC3E}">
        <p14:creationId xmlns:p14="http://schemas.microsoft.com/office/powerpoint/2010/main" val="383649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0699347" y="6457950"/>
            <a:ext cx="1435504" cy="342900"/>
          </a:xfrm>
          <a:prstGeom prst="rect">
            <a:avLst/>
          </a:prstGeom>
        </p:spPr>
      </p:pic>
    </p:spTree>
    <p:extLst>
      <p:ext uri="{BB962C8B-B14F-4D97-AF65-F5344CB8AC3E}">
        <p14:creationId xmlns:p14="http://schemas.microsoft.com/office/powerpoint/2010/main" val="734726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0699347" y="6457950"/>
            <a:ext cx="1435504" cy="342900"/>
          </a:xfrm>
          <a:prstGeom prst="rect">
            <a:avLst/>
          </a:prstGeom>
        </p:spPr>
      </p:pic>
    </p:spTree>
    <p:extLst>
      <p:ext uri="{BB962C8B-B14F-4D97-AF65-F5344CB8AC3E}">
        <p14:creationId xmlns:p14="http://schemas.microsoft.com/office/powerpoint/2010/main" val="796649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0699347" y="6457950"/>
            <a:ext cx="1435504" cy="342900"/>
          </a:xfrm>
          <a:prstGeom prst="rect">
            <a:avLst/>
          </a:prstGeom>
        </p:spPr>
      </p:pic>
    </p:spTree>
    <p:extLst>
      <p:ext uri="{BB962C8B-B14F-4D97-AF65-F5344CB8AC3E}">
        <p14:creationId xmlns:p14="http://schemas.microsoft.com/office/powerpoint/2010/main" val="3498397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0699347" y="6457950"/>
            <a:ext cx="1435504" cy="342900"/>
          </a:xfrm>
          <a:prstGeom prst="rect">
            <a:avLst/>
          </a:prstGeom>
        </p:spPr>
      </p:pic>
    </p:spTree>
    <p:extLst>
      <p:ext uri="{BB962C8B-B14F-4D97-AF65-F5344CB8AC3E}">
        <p14:creationId xmlns:p14="http://schemas.microsoft.com/office/powerpoint/2010/main" val="3633919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9">
            <a:alphaModFix/>
          </a:blip>
          <a:tile tx="0" ty="0" sx="90000" sy="90000" flip="xy" algn="tl"/>
        </a:blipFill>
        <a:effectLst/>
      </p:bgPr>
    </p:bg>
    <p:spTree>
      <p:nvGrpSpPr>
        <p:cNvPr id="1" name="Shape 5"/>
        <p:cNvGrpSpPr/>
        <p:nvPr/>
      </p:nvGrpSpPr>
      <p:grpSpPr>
        <a:xfrm>
          <a:off x="0" y="0"/>
          <a:ext cx="0" cy="0"/>
          <a:chOff x="0" y="0"/>
          <a:chExt cx="0" cy="0"/>
        </a:xfrm>
      </p:grpSpPr>
      <p:sp>
        <p:nvSpPr>
          <p:cNvPr id="6" name="Google Shape;6;p1"/>
          <p:cNvSpPr/>
          <p:nvPr/>
        </p:nvSpPr>
        <p:spPr>
          <a:xfrm>
            <a:off x="-1087902" y="-815922"/>
            <a:ext cx="2185183" cy="1638887"/>
          </a:xfrm>
          <a:prstGeom prst="pie">
            <a:avLst>
              <a:gd name="adj1" fmla="val 0"/>
              <a:gd name="adj2" fmla="val 5402120"/>
            </a:avLst>
          </a:prstGeom>
          <a:solidFill>
            <a:srgbClr val="FEF9FC">
              <a:alpha val="32941"/>
            </a:srgbClr>
          </a:solidFill>
          <a:ln w="9525" cap="rnd" cmpd="sng">
            <a:solidFill>
              <a:srgbClr val="D4BEC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7" name="Google Shape;7;p1"/>
          <p:cNvSpPr/>
          <p:nvPr/>
        </p:nvSpPr>
        <p:spPr>
          <a:xfrm>
            <a:off x="225089" y="21103"/>
            <a:ext cx="2269588" cy="1702191"/>
          </a:xfrm>
          <a:prstGeom prst="ellipse">
            <a:avLst/>
          </a:prstGeom>
          <a:noFill/>
          <a:ln w="27300" cap="rnd" cmpd="sng">
            <a:solidFill>
              <a:srgbClr val="FFEFF5"/>
            </a:solidFill>
            <a:prstDash val="solid"/>
            <a:round/>
            <a:headEnd type="none" w="sm" len="sm"/>
            <a:tailEnd type="none" w="sm" len="sm"/>
          </a:ln>
          <a:effectLst>
            <a:outerShdw blurRad="25400" dist="25400" dir="5400000" algn="tl" rotWithShape="0">
              <a:srgbClr val="B4A5AB">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8" name="Google Shape;8;p1"/>
          <p:cNvSpPr/>
          <p:nvPr/>
        </p:nvSpPr>
        <p:spPr>
          <a:xfrm rot="2315675">
            <a:off x="243842" y="1055077"/>
            <a:ext cx="1500956" cy="1102624"/>
          </a:xfrm>
          <a:prstGeom prst="donut">
            <a:avLst>
              <a:gd name="adj" fmla="val 11833"/>
            </a:avLst>
          </a:prstGeom>
          <a:gradFill>
            <a:gsLst>
              <a:gs pos="0">
                <a:srgbClr val="FDF9F9">
                  <a:alpha val="69803"/>
                </a:srgbClr>
              </a:gs>
              <a:gs pos="70000">
                <a:srgbClr val="FEFEFE">
                  <a:alpha val="54901"/>
                </a:srgbClr>
              </a:gs>
              <a:gs pos="100000">
                <a:srgbClr val="E6B9CC">
                  <a:alpha val="60000"/>
                </a:srgbClr>
              </a:gs>
            </a:gsLst>
            <a:path path="circle">
              <a:fillToRect r="100000" b="100000"/>
            </a:path>
            <a:tileRect l="-100000" t="-100000"/>
          </a:gradFill>
          <a:ln w="9525" cap="rnd" cmpd="sng">
            <a:solidFill>
              <a:srgbClr val="C7B1B9"/>
            </a:solidFill>
            <a:prstDash val="solid"/>
            <a:round/>
            <a:headEnd type="none" w="sm" len="sm"/>
            <a:tailEnd type="none" w="sm" len="sm"/>
          </a:ln>
          <a:effectLst>
            <a:outerShdw blurRad="12700" dist="15000" dir="4500000" algn="tl" rotWithShape="0">
              <a:srgbClr val="574F53">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9" name="Google Shape;9;p1"/>
          <p:cNvSpPr/>
          <p:nvPr/>
        </p:nvSpPr>
        <p:spPr>
          <a:xfrm>
            <a:off x="1350498" y="-54"/>
            <a:ext cx="10841503"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0" name="Google Shape;10;p1"/>
          <p:cNvSpPr txBox="1">
            <a:spLocks noGrp="1"/>
          </p:cNvSpPr>
          <p:nvPr>
            <p:ph type="title"/>
          </p:nvPr>
        </p:nvSpPr>
        <p:spPr>
          <a:xfrm>
            <a:off x="1914144" y="274638"/>
            <a:ext cx="999744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C22DA4"/>
              </a:buClr>
              <a:buSzPts val="4300"/>
              <a:buFont typeface="Gill Sans"/>
              <a:buNone/>
              <a:defRPr sz="4300" b="0" i="0" u="none" strike="noStrike" cap="none">
                <a:solidFill>
                  <a:srgbClr val="C22DA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914144" y="1447800"/>
            <a:ext cx="9997440" cy="480060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12" name="Google Shape;12;p1"/>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b="0" i="0" u="none" strike="noStrike" cap="none">
                <a:solidFill>
                  <a:srgbClr val="B7A3AB"/>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rgbClr val="B7A3AB"/>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1200" b="0" i="0" u="none" strike="noStrike" cap="none">
                <a:solidFill>
                  <a:srgbClr val="B7A3AB"/>
                </a:solidFill>
                <a:latin typeface="Gill Sans"/>
                <a:ea typeface="Gill Sans"/>
                <a:cs typeface="Gill Sans"/>
                <a:sym typeface="Gill Sans"/>
              </a:defRPr>
            </a:lvl1pPr>
            <a:lvl2pPr marL="0" marR="0" lvl="1" indent="0" algn="ctr" rtl="0">
              <a:spcBef>
                <a:spcPts val="0"/>
              </a:spcBef>
              <a:buNone/>
              <a:defRPr sz="1200" b="0" i="0" u="none" strike="noStrike" cap="none">
                <a:solidFill>
                  <a:srgbClr val="B7A3AB"/>
                </a:solidFill>
                <a:latin typeface="Gill Sans"/>
                <a:ea typeface="Gill Sans"/>
                <a:cs typeface="Gill Sans"/>
                <a:sym typeface="Gill Sans"/>
              </a:defRPr>
            </a:lvl2pPr>
            <a:lvl3pPr marL="0" marR="0" lvl="2" indent="0" algn="ctr" rtl="0">
              <a:spcBef>
                <a:spcPts val="0"/>
              </a:spcBef>
              <a:buNone/>
              <a:defRPr sz="1200" b="0" i="0" u="none" strike="noStrike" cap="none">
                <a:solidFill>
                  <a:srgbClr val="B7A3AB"/>
                </a:solidFill>
                <a:latin typeface="Gill Sans"/>
                <a:ea typeface="Gill Sans"/>
                <a:cs typeface="Gill Sans"/>
                <a:sym typeface="Gill Sans"/>
              </a:defRPr>
            </a:lvl3pPr>
            <a:lvl4pPr marL="0" marR="0" lvl="3" indent="0" algn="ctr" rtl="0">
              <a:spcBef>
                <a:spcPts val="0"/>
              </a:spcBef>
              <a:buNone/>
              <a:defRPr sz="1200" b="0" i="0" u="none" strike="noStrike" cap="none">
                <a:solidFill>
                  <a:srgbClr val="B7A3AB"/>
                </a:solidFill>
                <a:latin typeface="Gill Sans"/>
                <a:ea typeface="Gill Sans"/>
                <a:cs typeface="Gill Sans"/>
                <a:sym typeface="Gill Sans"/>
              </a:defRPr>
            </a:lvl4pPr>
            <a:lvl5pPr marL="0" marR="0" lvl="4" indent="0" algn="ctr" rtl="0">
              <a:spcBef>
                <a:spcPts val="0"/>
              </a:spcBef>
              <a:buNone/>
              <a:defRPr sz="1200" b="0" i="0" u="none" strike="noStrike" cap="none">
                <a:solidFill>
                  <a:srgbClr val="B7A3AB"/>
                </a:solidFill>
                <a:latin typeface="Gill Sans"/>
                <a:ea typeface="Gill Sans"/>
                <a:cs typeface="Gill Sans"/>
                <a:sym typeface="Gill Sans"/>
              </a:defRPr>
            </a:lvl5pPr>
            <a:lvl6pPr marL="0" marR="0" lvl="5" indent="0" algn="ctr" rtl="0">
              <a:spcBef>
                <a:spcPts val="0"/>
              </a:spcBef>
              <a:buNone/>
              <a:defRPr sz="1200" b="0" i="0" u="none" strike="noStrike" cap="none">
                <a:solidFill>
                  <a:srgbClr val="B7A3AB"/>
                </a:solidFill>
                <a:latin typeface="Gill Sans"/>
                <a:ea typeface="Gill Sans"/>
                <a:cs typeface="Gill Sans"/>
                <a:sym typeface="Gill Sans"/>
              </a:defRPr>
            </a:lvl6pPr>
            <a:lvl7pPr marL="0" marR="0" lvl="6" indent="0" algn="ctr" rtl="0">
              <a:spcBef>
                <a:spcPts val="0"/>
              </a:spcBef>
              <a:buNone/>
              <a:defRPr sz="1200" b="0" i="0" u="none" strike="noStrike" cap="none">
                <a:solidFill>
                  <a:srgbClr val="B7A3AB"/>
                </a:solidFill>
                <a:latin typeface="Gill Sans"/>
                <a:ea typeface="Gill Sans"/>
                <a:cs typeface="Gill Sans"/>
                <a:sym typeface="Gill Sans"/>
              </a:defRPr>
            </a:lvl7pPr>
            <a:lvl8pPr marL="0" marR="0" lvl="7" indent="0" algn="ctr" rtl="0">
              <a:spcBef>
                <a:spcPts val="0"/>
              </a:spcBef>
              <a:buNone/>
              <a:defRPr sz="1200" b="0" i="0" u="none" strike="noStrike" cap="none">
                <a:solidFill>
                  <a:srgbClr val="B7A3AB"/>
                </a:solidFill>
                <a:latin typeface="Gill Sans"/>
                <a:ea typeface="Gill Sans"/>
                <a:cs typeface="Gill Sans"/>
                <a:sym typeface="Gill Sans"/>
              </a:defRPr>
            </a:lvl8pPr>
            <a:lvl9pPr marL="0" marR="0" lvl="8" indent="0" algn="ctr" rtl="0">
              <a:spcBef>
                <a:spcPts val="0"/>
              </a:spcBef>
              <a:buNone/>
              <a:defRPr sz="1200" b="0" i="0" u="none" strike="noStrike" cap="none">
                <a:solidFill>
                  <a:srgbClr val="B7A3AB"/>
                </a:solidFill>
                <a:latin typeface="Gill Sans"/>
                <a:ea typeface="Gill Sans"/>
                <a:cs typeface="Gill Sans"/>
                <a:sym typeface="Gill Sans"/>
              </a:defRPr>
            </a:lvl9pPr>
          </a:lstStyle>
          <a:p>
            <a:fld id="{00000000-1234-1234-1234-123412341234}" type="slidenum">
              <a:rPr lang="es-PA" smtClean="0"/>
              <a:pPr/>
              <a:t>‹Nº›</a:t>
            </a:fld>
            <a:endParaRPr lang="es-PA"/>
          </a:p>
        </p:txBody>
      </p:sp>
      <p:sp>
        <p:nvSpPr>
          <p:cNvPr id="15" name="Google Shape;15;p1"/>
          <p:cNvSpPr/>
          <p:nvPr/>
        </p:nvSpPr>
        <p:spPr>
          <a:xfrm>
            <a:off x="1353312" y="-54"/>
            <a:ext cx="97536" cy="6858054"/>
          </a:xfrm>
          <a:prstGeom prst="rect">
            <a:avLst/>
          </a:prstGeom>
          <a:solidFill>
            <a:schemeClr val="lt1"/>
          </a:solidFill>
          <a:ln>
            <a:noFill/>
          </a:ln>
          <a:effectLst>
            <a:outerShdw blurRad="38550" dist="38000" dir="10800000" algn="tl" rotWithShape="0">
              <a:srgbClr val="756E72">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 id="2147483668" r:id="rId11"/>
    <p:sldLayoutId id="2147483669" r:id="rId12"/>
    <p:sldLayoutId id="2147483670" r:id="rId13"/>
    <p:sldLayoutId id="2147483671" r:id="rId14"/>
    <p:sldLayoutId id="2147483672" r:id="rId15"/>
    <p:sldLayoutId id="2147483673" r:id="rId16"/>
    <p:sldLayoutId id="214748367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3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33.jpeg"/><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p13"/>
          <p:cNvSpPr txBox="1">
            <a:spLocks noGrp="1"/>
          </p:cNvSpPr>
          <p:nvPr>
            <p:ph type="ctrTitle"/>
          </p:nvPr>
        </p:nvSpPr>
        <p:spPr>
          <a:xfrm>
            <a:off x="2881290" y="642920"/>
            <a:ext cx="7100910" cy="857255"/>
          </a:xfrm>
          <a:prstGeom prst="rect">
            <a:avLst/>
          </a:prstGeom>
          <a:noFill/>
          <a:ln>
            <a:noFill/>
          </a:ln>
        </p:spPr>
        <p:txBody>
          <a:bodyPr spcFirstLastPara="1" wrap="square" lIns="91425" tIns="45700" rIns="91425" bIns="45700" anchor="b" anchorCtr="0">
            <a:normAutofit fontScale="90000"/>
          </a:bodyPr>
          <a:lstStyle/>
          <a:p>
            <a:pPr algn="ctr">
              <a:spcBef>
                <a:spcPts val="685"/>
              </a:spcBef>
            </a:pPr>
            <a:r>
              <a:rPr lang="es-ES" sz="1800" b="1" dirty="0">
                <a:effectLst/>
                <a:latin typeface="Calibri" panose="020F0502020204030204" pitchFamily="34" charset="0"/>
                <a:ea typeface="Arial MT"/>
                <a:cs typeface="Arial MT"/>
              </a:rPr>
              <a:t> </a:t>
            </a:r>
            <a:br>
              <a:rPr lang="es-PA" sz="1800" dirty="0">
                <a:effectLst/>
                <a:latin typeface="Arial MT"/>
                <a:ea typeface="Arial MT"/>
                <a:cs typeface="Arial MT"/>
              </a:rPr>
            </a:br>
            <a:r>
              <a:rPr lang="es-ES" sz="3600" b="1"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INTRODUCCIÓN</a:t>
            </a:r>
            <a:r>
              <a:rPr lang="es-ES" sz="3600" b="1" spc="-85"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 </a:t>
            </a:r>
            <a:r>
              <a:rPr lang="es-ES" sz="3600" b="1"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A</a:t>
            </a:r>
            <a:r>
              <a:rPr lang="es-ES" sz="3600" b="1" spc="-85"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 </a:t>
            </a:r>
            <a:r>
              <a:rPr lang="es-ES" sz="3600" b="1"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LA </a:t>
            </a:r>
            <a:r>
              <a:rPr lang="es-ES" sz="3600" b="1" spc="-10"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PSICOPATOLOGÍA </a:t>
            </a:r>
            <a:r>
              <a:rPr lang="es-ES" sz="3600" b="1"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INFANTIL Y </a:t>
            </a:r>
            <a:r>
              <a:rPr lang="es-ES" sz="3600" b="1" spc="-10" dirty="0">
                <a:solidFill>
                  <a:schemeClr val="bg2">
                    <a:lumMod val="75000"/>
                  </a:schemeClr>
                </a:solidFill>
                <a:effectLst/>
                <a:latin typeface="Calibri" panose="020F0502020204030204" pitchFamily="34" charset="0"/>
                <a:ea typeface="Calibri" panose="020F0502020204030204" pitchFamily="34" charset="0"/>
                <a:cs typeface="Georgia" panose="02040502050405020303" pitchFamily="18" charset="0"/>
              </a:rPr>
              <a:t>ADOLESCENTES</a:t>
            </a:r>
            <a:endParaRPr lang="es-PA" sz="3600" b="1" dirty="0">
              <a:solidFill>
                <a:schemeClr val="bg2">
                  <a:lumMod val="75000"/>
                </a:schemeClr>
              </a:solidFill>
              <a:effectLst/>
              <a:latin typeface="Georgia" panose="02040502050405020303" pitchFamily="18" charset="0"/>
              <a:ea typeface="Calibri" panose="020F0502020204030204" pitchFamily="34" charset="0"/>
              <a:cs typeface="Georgia" panose="02040502050405020303" pitchFamily="18" charset="0"/>
            </a:endParaRPr>
          </a:p>
        </p:txBody>
      </p:sp>
      <p:sp>
        <p:nvSpPr>
          <p:cNvPr id="102" name="Google Shape;102;p13"/>
          <p:cNvSpPr txBox="1">
            <a:spLocks noGrp="1"/>
          </p:cNvSpPr>
          <p:nvPr>
            <p:ph type="subTitle" idx="1"/>
          </p:nvPr>
        </p:nvSpPr>
        <p:spPr>
          <a:xfrm>
            <a:off x="3024166" y="5857892"/>
            <a:ext cx="6400800" cy="538154"/>
          </a:xfrm>
          <a:prstGeom prst="rect">
            <a:avLst/>
          </a:prstGeom>
          <a:noFill/>
          <a:ln>
            <a:noFill/>
          </a:ln>
        </p:spPr>
        <p:txBody>
          <a:bodyPr spcFirstLastPara="1" wrap="square" lIns="91425" tIns="0" rIns="91425" bIns="45700" anchor="t" anchorCtr="0">
            <a:normAutofit/>
          </a:bodyPr>
          <a:lstStyle/>
          <a:p>
            <a:pPr marL="27432" indent="0">
              <a:spcBef>
                <a:spcPts val="0"/>
              </a:spcBef>
            </a:pPr>
            <a:r>
              <a:rPr lang="es-PA" i="1" dirty="0">
                <a:solidFill>
                  <a:srgbClr val="C00000"/>
                </a:solidFill>
              </a:rPr>
              <a:t>            </a:t>
            </a:r>
            <a:r>
              <a:rPr lang="es-PA" b="1" i="1" dirty="0">
                <a:solidFill>
                  <a:srgbClr val="874296"/>
                </a:solidFill>
              </a:rPr>
              <a:t>DRA.   AELEN  LÓPEZ</a:t>
            </a:r>
            <a:endParaRPr b="1" i="1" dirty="0">
              <a:solidFill>
                <a:srgbClr val="874296"/>
              </a:solidFill>
            </a:endParaRPr>
          </a:p>
        </p:txBody>
      </p:sp>
      <p:pic>
        <p:nvPicPr>
          <p:cNvPr id="103" name="Google Shape;103;p13" descr="Resultado de imagen para PSICOLOGIA GIF"/>
          <p:cNvPicPr preferRelativeResize="0"/>
          <p:nvPr/>
        </p:nvPicPr>
        <p:blipFill rotWithShape="1">
          <a:blip r:embed="rId3">
            <a:alphaModFix/>
          </a:blip>
          <a:srcRect/>
          <a:stretch/>
        </p:blipFill>
        <p:spPr>
          <a:xfrm>
            <a:off x="8007233" y="1819286"/>
            <a:ext cx="3333750" cy="3171826"/>
          </a:xfrm>
          <a:prstGeom prst="rect">
            <a:avLst/>
          </a:prstGeom>
          <a:noFill/>
          <a:ln>
            <a:noFill/>
          </a:ln>
        </p:spPr>
      </p:pic>
      <p:pic>
        <p:nvPicPr>
          <p:cNvPr id="2" name="Imagen 9">
            <a:extLst>
              <a:ext uri="{FF2B5EF4-FFF2-40B4-BE49-F238E27FC236}">
                <a16:creationId xmlns:a16="http://schemas.microsoft.com/office/drawing/2014/main" id="{ED94A4E5-7DAF-D0DE-B1EB-7A257E9AA9F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pic>
        <p:nvPicPr>
          <p:cNvPr id="6152" name="Picture 8" descr="niños – Blog del Centro ELEIA">
            <a:extLst>
              <a:ext uri="{FF2B5EF4-FFF2-40B4-BE49-F238E27FC236}">
                <a16:creationId xmlns:a16="http://schemas.microsoft.com/office/drawing/2014/main" id="{3C174B2F-7481-E152-08F5-B9F35F01B5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7950" y="1787631"/>
            <a:ext cx="5805268" cy="35580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A" dirty="0"/>
              <a:t>DOCENTE</a:t>
            </a:r>
          </a:p>
        </p:txBody>
      </p:sp>
      <p:sp>
        <p:nvSpPr>
          <p:cNvPr id="3" name="Marcador de contenido 2"/>
          <p:cNvSpPr>
            <a:spLocks noGrp="1"/>
          </p:cNvSpPr>
          <p:nvPr>
            <p:ph idx="1"/>
          </p:nvPr>
        </p:nvSpPr>
        <p:spPr>
          <a:xfrm>
            <a:off x="3827794" y="1411780"/>
            <a:ext cx="8083790" cy="2600153"/>
          </a:xfrm>
        </p:spPr>
        <p:txBody>
          <a:bodyPr>
            <a:normAutofit fontScale="25000" lnSpcReduction="20000"/>
          </a:bodyPr>
          <a:lstStyle/>
          <a:p>
            <a:pPr marL="0" indent="0" algn="just">
              <a:buNone/>
            </a:pPr>
            <a:r>
              <a:rPr lang="es-ES" sz="10000" b="1" dirty="0"/>
              <a:t>AELEN  MITZILA  LÓPEZ  MORALES</a:t>
            </a:r>
            <a:endParaRPr lang="es-PA" sz="10000" dirty="0"/>
          </a:p>
          <a:p>
            <a:pPr algn="just">
              <a:buFont typeface="Wingdings" panose="05000000000000000000" pitchFamily="2" charset="2"/>
              <a:buChar char="§"/>
            </a:pPr>
            <a:r>
              <a:rPr lang="es-ES" sz="8000" dirty="0"/>
              <a:t>Doctorado en Ciencias de la Salud y el Comportamiento Humano. Maestría en Psicología Clínica con especialización  en Psicoterapia Integrativa. Maestría en Docencia  Superior. Máster </a:t>
            </a:r>
            <a:r>
              <a:rPr lang="es-ES" sz="8000" dirty="0" err="1"/>
              <a:t>Neurocoach</a:t>
            </a:r>
            <a:r>
              <a:rPr lang="es-ES" sz="8000" dirty="0"/>
              <a:t> Profesional, Postgrado Especialista  en Docencia Superior, Profesorado de Educación Media con Especialización en Psicología. Diplomado en Gestión de Recursos Humanos. Licenciada en Psicología. </a:t>
            </a:r>
          </a:p>
          <a:p>
            <a:pPr algn="just">
              <a:buFont typeface="Wingdings" panose="05000000000000000000" pitchFamily="2" charset="2"/>
              <a:buChar char="§"/>
            </a:pPr>
            <a:endParaRPr lang="es-ES" sz="8000" dirty="0"/>
          </a:p>
          <a:p>
            <a:pPr algn="just">
              <a:buFont typeface="Wingdings" panose="05000000000000000000" pitchFamily="2" charset="2"/>
              <a:buChar char="§"/>
            </a:pPr>
            <a:r>
              <a:rPr lang="es-ES" sz="8000" dirty="0"/>
              <a:t>Certificaciones Internacionales en: Buenas prácticas clínicas, Hipnosis terapéutica, Apoyo psicosocial en emergencias y desastres, Facilitadora grupal   con mención en dinámicas grupales y aprendizaje experiencial. Certificación Internacional  en Risoterapia, Musicoterapia, Neurociencias,  </a:t>
            </a:r>
            <a:r>
              <a:rPr lang="es-ES" sz="8000" dirty="0" err="1"/>
              <a:t>Neurocoaching</a:t>
            </a:r>
            <a:r>
              <a:rPr lang="es-ES" sz="8000" dirty="0"/>
              <a:t> Cognitivo,  Certificación Internacional en </a:t>
            </a:r>
            <a:r>
              <a:rPr lang="es-ES" sz="8000" dirty="0" err="1"/>
              <a:t>Neurocoaching</a:t>
            </a:r>
            <a:r>
              <a:rPr lang="es-ES" sz="8000" dirty="0"/>
              <a:t> en Liderazgo Transformacional y  en Soporte Emocional.  Facilitadora grupal en dinámicas virtuales. Certificación Internacional  como Líder de Yoga de la Risa. Certificación Internacional en Liderazgo  Transformacional “El Súper Héroe soy yo”. Certificación Internacional “Modelos Exitosos de Gestión Empresarial”</a:t>
            </a:r>
            <a:endParaRPr lang="es-PA" sz="8000" dirty="0"/>
          </a:p>
          <a:p>
            <a:endParaRPr lang="es-PA" sz="7200" dirty="0"/>
          </a:p>
          <a:p>
            <a:endParaRPr lang="es-PA" dirty="0"/>
          </a:p>
        </p:txBody>
      </p:sp>
      <p:pic>
        <p:nvPicPr>
          <p:cNvPr id="6" name="Imagen 5">
            <a:extLst>
              <a:ext uri="{FF2B5EF4-FFF2-40B4-BE49-F238E27FC236}">
                <a16:creationId xmlns:a16="http://schemas.microsoft.com/office/drawing/2014/main" id="{659D05B0-E2A6-B485-2265-63013DF88ABF}"/>
              </a:ext>
            </a:extLst>
          </p:cNvPr>
          <p:cNvPicPr>
            <a:picLocks noChangeAspect="1"/>
          </p:cNvPicPr>
          <p:nvPr/>
        </p:nvPicPr>
        <p:blipFill>
          <a:blip r:embed="rId2"/>
          <a:stretch>
            <a:fillRect/>
          </a:stretch>
        </p:blipFill>
        <p:spPr>
          <a:xfrm rot="19658159">
            <a:off x="1407998" y="1712291"/>
            <a:ext cx="2686644" cy="2826412"/>
          </a:xfrm>
          <a:prstGeom prst="ellipse">
            <a:avLst/>
          </a:prstGeom>
        </p:spPr>
      </p:pic>
      <p:pic>
        <p:nvPicPr>
          <p:cNvPr id="7" name="Imagen 9">
            <a:extLst>
              <a:ext uri="{FF2B5EF4-FFF2-40B4-BE49-F238E27FC236}">
                <a16:creationId xmlns:a16="http://schemas.microsoft.com/office/drawing/2014/main" id="{6035EC91-165B-2CFA-DB58-1063A444E7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4193899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40753" y="738872"/>
            <a:ext cx="9997440" cy="1143000"/>
          </a:xfrm>
        </p:spPr>
        <p:txBody>
          <a:bodyPr/>
          <a:lstStyle/>
          <a:p>
            <a:r>
              <a:rPr lang="es-PA" dirty="0"/>
              <a:t>DOCENTE</a:t>
            </a:r>
          </a:p>
        </p:txBody>
      </p:sp>
      <p:sp>
        <p:nvSpPr>
          <p:cNvPr id="3" name="Marcador de contenido 2"/>
          <p:cNvSpPr>
            <a:spLocks noGrp="1"/>
          </p:cNvSpPr>
          <p:nvPr>
            <p:ph idx="1"/>
          </p:nvPr>
        </p:nvSpPr>
        <p:spPr>
          <a:xfrm>
            <a:off x="1914144" y="2023150"/>
            <a:ext cx="8272211" cy="3336678"/>
          </a:xfrm>
        </p:spPr>
        <p:txBody>
          <a:bodyPr>
            <a:normAutofit fontScale="25000" lnSpcReduction="20000"/>
          </a:bodyPr>
          <a:lstStyle/>
          <a:p>
            <a:pPr>
              <a:buFont typeface="Wingdings" panose="05000000000000000000" pitchFamily="2" charset="2"/>
              <a:buChar char="§"/>
            </a:pPr>
            <a:r>
              <a:rPr lang="es-ES" sz="9600" dirty="0"/>
              <a:t>Docente universitaria.</a:t>
            </a:r>
            <a:endParaRPr lang="es-PA" sz="9600" dirty="0"/>
          </a:p>
          <a:p>
            <a:pPr>
              <a:buFont typeface="Wingdings" panose="05000000000000000000" pitchFamily="2" charset="2"/>
              <a:buChar char="§"/>
            </a:pPr>
            <a:r>
              <a:rPr lang="es-ES" sz="9600" dirty="0"/>
              <a:t>Escritora de los libros:  </a:t>
            </a:r>
          </a:p>
          <a:p>
            <a:pPr>
              <a:buFont typeface="Wingdings" panose="05000000000000000000" pitchFamily="2" charset="2"/>
              <a:buChar char="§"/>
            </a:pPr>
            <a:r>
              <a:rPr lang="es-ES" sz="9600" dirty="0"/>
              <a:t>Pensamiento Crítico: Conceptos &amp; Herramientas (2019)</a:t>
            </a:r>
            <a:endParaRPr lang="es-PA" sz="9600" dirty="0"/>
          </a:p>
          <a:p>
            <a:pPr marL="0" indent="0">
              <a:buNone/>
            </a:pPr>
            <a:r>
              <a:rPr lang="es-ES" sz="9600" dirty="0"/>
              <a:t>                                      Técnicas de estudio (2019)</a:t>
            </a:r>
            <a:endParaRPr lang="es-PA" sz="9600" dirty="0"/>
          </a:p>
          <a:p>
            <a:pPr marL="0" indent="0">
              <a:buNone/>
            </a:pPr>
            <a:r>
              <a:rPr lang="es-ES" sz="9600" b="1" dirty="0"/>
              <a:t> </a:t>
            </a:r>
            <a:r>
              <a:rPr lang="es-ES" sz="9600" dirty="0"/>
              <a:t> </a:t>
            </a:r>
            <a:endParaRPr lang="es-PA" sz="9600" dirty="0"/>
          </a:p>
          <a:p>
            <a:pPr marL="137160" indent="0">
              <a:buNone/>
            </a:pPr>
            <a:r>
              <a:rPr lang="es-ES" sz="9600" dirty="0"/>
              <a:t>Actualmente: </a:t>
            </a:r>
            <a:endParaRPr lang="es-PA" sz="9600" dirty="0"/>
          </a:p>
          <a:p>
            <a:pPr lvl="0">
              <a:buFont typeface="Wingdings" panose="05000000000000000000" pitchFamily="2" charset="2"/>
              <a:buChar char="§"/>
            </a:pPr>
            <a:r>
              <a:rPr lang="es-ES" sz="9600" dirty="0"/>
              <a:t>Docente universitaria con más de 15 años de experiencia</a:t>
            </a:r>
            <a:endParaRPr lang="es-PA" sz="9600" dirty="0"/>
          </a:p>
          <a:p>
            <a:pPr lvl="0">
              <a:buFont typeface="Wingdings" panose="05000000000000000000" pitchFamily="2" charset="2"/>
              <a:buChar char="§"/>
            </a:pPr>
            <a:r>
              <a:rPr lang="es-ES" sz="9600" dirty="0"/>
              <a:t>Expositora nacional e internacional en temas de Psicología</a:t>
            </a:r>
            <a:endParaRPr lang="es-PA" sz="9600" dirty="0"/>
          </a:p>
          <a:p>
            <a:pPr lvl="0">
              <a:buFont typeface="Wingdings" panose="05000000000000000000" pitchFamily="2" charset="2"/>
              <a:buChar char="§"/>
            </a:pPr>
            <a:r>
              <a:rPr lang="es-ES" sz="9600" dirty="0"/>
              <a:t>Vice Presidenta de la Asociación Panameña de Psicólogos (APP)</a:t>
            </a:r>
            <a:endParaRPr lang="es-PA" dirty="0"/>
          </a:p>
        </p:txBody>
      </p:sp>
      <p:pic>
        <p:nvPicPr>
          <p:cNvPr id="5" name="Imagen 4">
            <a:extLst>
              <a:ext uri="{FF2B5EF4-FFF2-40B4-BE49-F238E27FC236}">
                <a16:creationId xmlns:a16="http://schemas.microsoft.com/office/drawing/2014/main" id="{3CB944B7-CCF6-0EFD-E0CD-530AEE8FF693}"/>
              </a:ext>
            </a:extLst>
          </p:cNvPr>
          <p:cNvPicPr>
            <a:picLocks noChangeAspect="1"/>
          </p:cNvPicPr>
          <p:nvPr/>
        </p:nvPicPr>
        <p:blipFill>
          <a:blip r:embed="rId2"/>
          <a:stretch>
            <a:fillRect/>
          </a:stretch>
        </p:blipFill>
        <p:spPr>
          <a:xfrm rot="19658159">
            <a:off x="9349256" y="172592"/>
            <a:ext cx="2637892" cy="2929106"/>
          </a:xfrm>
          <a:prstGeom prst="ellipse">
            <a:avLst/>
          </a:prstGeom>
        </p:spPr>
      </p:pic>
      <p:pic>
        <p:nvPicPr>
          <p:cNvPr id="6" name="Imagen 9">
            <a:extLst>
              <a:ext uri="{FF2B5EF4-FFF2-40B4-BE49-F238E27FC236}">
                <a16:creationId xmlns:a16="http://schemas.microsoft.com/office/drawing/2014/main" id="{3EE4B08C-F999-E365-6DEE-41ABE72A48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694770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029754-A5E8-B09C-99F8-9091B30C38E1}"/>
              </a:ext>
            </a:extLst>
          </p:cNvPr>
          <p:cNvSpPr>
            <a:spLocks noGrp="1"/>
          </p:cNvSpPr>
          <p:nvPr>
            <p:ph type="title"/>
          </p:nvPr>
        </p:nvSpPr>
        <p:spPr>
          <a:xfrm>
            <a:off x="1914143" y="584128"/>
            <a:ext cx="9997440" cy="1143000"/>
          </a:xfrm>
        </p:spPr>
        <p:txBody>
          <a:bodyPr>
            <a:normAutofit/>
          </a:bodyPr>
          <a:lstStyle/>
          <a:p>
            <a:r>
              <a:rPr lang="es-ES" dirty="0"/>
              <a:t>DINAMICA DE PRESENTACION</a:t>
            </a:r>
            <a:endParaRPr lang="es-PA" dirty="0"/>
          </a:p>
        </p:txBody>
      </p:sp>
      <p:pic>
        <p:nvPicPr>
          <p:cNvPr id="1026" name="Picture 2" descr="Imágenes de Reloj - Descarga gratuita en Freepik">
            <a:extLst>
              <a:ext uri="{FF2B5EF4-FFF2-40B4-BE49-F238E27FC236}">
                <a16:creationId xmlns:a16="http://schemas.microsoft.com/office/drawing/2014/main" id="{29E490F9-B320-327E-2D91-DFD5B534E3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5088" y="1853736"/>
            <a:ext cx="4255551" cy="4255551"/>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9">
            <a:extLst>
              <a:ext uri="{FF2B5EF4-FFF2-40B4-BE49-F238E27FC236}">
                <a16:creationId xmlns:a16="http://schemas.microsoft.com/office/drawing/2014/main" id="{DC5665F6-B225-EA81-DC35-E4BBB3B24E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30083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B218A7-6C8F-FC4B-220D-35BE12734657}"/>
              </a:ext>
            </a:extLst>
          </p:cNvPr>
          <p:cNvSpPr>
            <a:spLocks noGrp="1"/>
          </p:cNvSpPr>
          <p:nvPr>
            <p:ph type="title"/>
          </p:nvPr>
        </p:nvSpPr>
        <p:spPr/>
        <p:txBody>
          <a:bodyPr/>
          <a:lstStyle/>
          <a:p>
            <a:r>
              <a:rPr lang="es-ES" dirty="0"/>
              <a:t>UNIDAD 1</a:t>
            </a:r>
            <a:endParaRPr lang="es-PA" dirty="0"/>
          </a:p>
        </p:txBody>
      </p:sp>
      <p:pic>
        <p:nvPicPr>
          <p:cNvPr id="5" name="Imagen 4">
            <a:extLst>
              <a:ext uri="{FF2B5EF4-FFF2-40B4-BE49-F238E27FC236}">
                <a16:creationId xmlns:a16="http://schemas.microsoft.com/office/drawing/2014/main" id="{FA147688-6680-AD78-E859-F1EE47AEF101}"/>
              </a:ext>
            </a:extLst>
          </p:cNvPr>
          <p:cNvPicPr>
            <a:picLocks noChangeAspect="1"/>
          </p:cNvPicPr>
          <p:nvPr/>
        </p:nvPicPr>
        <p:blipFill rotWithShape="1">
          <a:blip r:embed="rId2"/>
          <a:srcRect t="1860" b="-1"/>
          <a:stretch/>
        </p:blipFill>
        <p:spPr>
          <a:xfrm>
            <a:off x="1406770" y="1603718"/>
            <a:ext cx="10269415" cy="4389118"/>
          </a:xfrm>
          <a:prstGeom prst="rect">
            <a:avLst/>
          </a:prstGeom>
        </p:spPr>
      </p:pic>
      <p:pic>
        <p:nvPicPr>
          <p:cNvPr id="7" name="Gráfico 6" descr="Cerebro con relleno sólido">
            <a:extLst>
              <a:ext uri="{FF2B5EF4-FFF2-40B4-BE49-F238E27FC236}">
                <a16:creationId xmlns:a16="http://schemas.microsoft.com/office/drawing/2014/main" id="{3D9A3560-FE89-11E0-B1A5-C528B56269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3409" y="1146518"/>
            <a:ext cx="914400" cy="914400"/>
          </a:xfrm>
          <a:prstGeom prst="rect">
            <a:avLst/>
          </a:prstGeom>
        </p:spPr>
      </p:pic>
      <p:pic>
        <p:nvPicPr>
          <p:cNvPr id="8" name="Imagen 9">
            <a:extLst>
              <a:ext uri="{FF2B5EF4-FFF2-40B4-BE49-F238E27FC236}">
                <a16:creationId xmlns:a16="http://schemas.microsoft.com/office/drawing/2014/main" id="{DAF4B6B4-CD42-3E6F-BC62-D3B5CBB3E5D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743692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BB621E-BC99-9B02-9E16-AB0E9C3FB364}"/>
              </a:ext>
            </a:extLst>
          </p:cNvPr>
          <p:cNvSpPr>
            <a:spLocks noGrp="1"/>
          </p:cNvSpPr>
          <p:nvPr>
            <p:ph type="title"/>
          </p:nvPr>
        </p:nvSpPr>
        <p:spPr>
          <a:xfrm>
            <a:off x="2194560" y="3045973"/>
            <a:ext cx="9997440" cy="1143000"/>
          </a:xfrm>
        </p:spPr>
        <p:txBody>
          <a:bodyPr>
            <a:noAutofit/>
          </a:bodyPr>
          <a:lstStyle/>
          <a:p>
            <a:r>
              <a:rPr lang="es-ES" sz="5400" b="1" spc="0" dirty="0">
                <a:effectLst/>
                <a:latin typeface="Arial MT"/>
                <a:ea typeface="Arial MT"/>
                <a:cs typeface="Arial MT"/>
              </a:rPr>
              <a:t>Desarrollo</a:t>
            </a:r>
            <a:r>
              <a:rPr lang="es-ES" sz="5400" b="1" spc="-65" dirty="0">
                <a:effectLst/>
                <a:latin typeface="Arial MT"/>
                <a:ea typeface="Arial MT"/>
                <a:cs typeface="Arial MT"/>
              </a:rPr>
              <a:t> </a:t>
            </a:r>
            <a:r>
              <a:rPr lang="es-ES" sz="5400" b="1" spc="0" dirty="0">
                <a:effectLst/>
                <a:latin typeface="Arial MT"/>
                <a:ea typeface="Arial MT"/>
                <a:cs typeface="Arial MT"/>
              </a:rPr>
              <a:t>del</a:t>
            </a:r>
            <a:r>
              <a:rPr lang="es-ES" sz="5400" b="1" spc="-65" dirty="0">
                <a:effectLst/>
                <a:latin typeface="Arial MT"/>
                <a:ea typeface="Arial MT"/>
                <a:cs typeface="Arial MT"/>
              </a:rPr>
              <a:t> </a:t>
            </a:r>
            <a:r>
              <a:rPr lang="es-ES" sz="5400" b="1" spc="0" dirty="0">
                <a:effectLst/>
                <a:latin typeface="Arial MT"/>
                <a:ea typeface="Arial MT"/>
                <a:cs typeface="Arial MT"/>
              </a:rPr>
              <a:t>sistema</a:t>
            </a:r>
            <a:r>
              <a:rPr lang="es-ES" sz="5400" b="1" spc="-65" dirty="0">
                <a:effectLst/>
                <a:latin typeface="Arial MT"/>
                <a:ea typeface="Arial MT"/>
                <a:cs typeface="Arial MT"/>
              </a:rPr>
              <a:t> </a:t>
            </a:r>
            <a:r>
              <a:rPr lang="es-ES" sz="5400" b="1" spc="0" dirty="0">
                <a:effectLst/>
                <a:latin typeface="Arial MT"/>
                <a:ea typeface="Arial MT"/>
                <a:cs typeface="Arial MT"/>
              </a:rPr>
              <a:t>nervioso </a:t>
            </a:r>
            <a:r>
              <a:rPr lang="es-ES" sz="5400" b="1" spc="-10" dirty="0">
                <a:effectLst/>
                <a:latin typeface="Arial MT"/>
                <a:ea typeface="Arial MT"/>
                <a:cs typeface="Arial MT"/>
              </a:rPr>
              <a:t>central.</a:t>
            </a:r>
            <a:br>
              <a:rPr lang="es-PA" sz="5400" b="1" spc="0" dirty="0">
                <a:effectLst/>
                <a:latin typeface="Arial MT"/>
                <a:ea typeface="Arial MT"/>
                <a:cs typeface="Arial MT"/>
              </a:rPr>
            </a:br>
            <a:endParaRPr lang="es-PA" sz="5400" b="1" dirty="0"/>
          </a:p>
        </p:txBody>
      </p:sp>
      <p:pic>
        <p:nvPicPr>
          <p:cNvPr id="4" name="Imagen 9">
            <a:extLst>
              <a:ext uri="{FF2B5EF4-FFF2-40B4-BE49-F238E27FC236}">
                <a16:creationId xmlns:a16="http://schemas.microsoft.com/office/drawing/2014/main" id="{B10D0912-9F7D-8B4A-A989-DEA8506F1A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943299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3F125B-B2A1-7878-78F2-D086D07634FC}"/>
              </a:ext>
            </a:extLst>
          </p:cNvPr>
          <p:cNvSpPr>
            <a:spLocks noGrp="1"/>
          </p:cNvSpPr>
          <p:nvPr>
            <p:ph type="title"/>
          </p:nvPr>
        </p:nvSpPr>
        <p:spPr>
          <a:xfrm>
            <a:off x="2012618" y="609601"/>
            <a:ext cx="9997440" cy="1143000"/>
          </a:xfrm>
        </p:spPr>
        <p:txBody>
          <a:bodyPr/>
          <a:lstStyle/>
          <a:p>
            <a:r>
              <a:rPr lang="es-ES" dirty="0"/>
              <a:t>El </a:t>
            </a:r>
            <a:r>
              <a:rPr lang="es-ES" b="1" dirty="0"/>
              <a:t>Sistema Nervioso Central (SNC)</a:t>
            </a:r>
            <a:endParaRPr lang="es-PA" dirty="0"/>
          </a:p>
        </p:txBody>
      </p:sp>
      <p:sp>
        <p:nvSpPr>
          <p:cNvPr id="3" name="Marcador de texto 2">
            <a:extLst>
              <a:ext uri="{FF2B5EF4-FFF2-40B4-BE49-F238E27FC236}">
                <a16:creationId xmlns:a16="http://schemas.microsoft.com/office/drawing/2014/main" id="{4059B830-578D-FF26-B550-4D985C25DD6E}"/>
              </a:ext>
            </a:extLst>
          </p:cNvPr>
          <p:cNvSpPr>
            <a:spLocks noGrp="1"/>
          </p:cNvSpPr>
          <p:nvPr>
            <p:ph type="body" idx="1"/>
          </p:nvPr>
        </p:nvSpPr>
        <p:spPr>
          <a:xfrm>
            <a:off x="2139227" y="1913205"/>
            <a:ext cx="4181856" cy="3730283"/>
          </a:xfrm>
        </p:spPr>
        <p:txBody>
          <a:bodyPr>
            <a:normAutofit lnSpcReduction="10000"/>
          </a:bodyPr>
          <a:lstStyle/>
          <a:p>
            <a:pPr>
              <a:buFont typeface="Wingdings" panose="05000000000000000000" pitchFamily="2" charset="2"/>
              <a:buChar char="§"/>
            </a:pPr>
            <a:r>
              <a:rPr lang="es-ES" dirty="0"/>
              <a:t>Es la parte principal del sistema nervioso encargada de recibir, procesar e interpretar la información del cuerpo y generar respuestas.</a:t>
            </a:r>
          </a:p>
          <a:p>
            <a:endParaRPr lang="es-PA" dirty="0"/>
          </a:p>
        </p:txBody>
      </p:sp>
      <p:pic>
        <p:nvPicPr>
          <p:cNvPr id="4" name="Picture 2" descr="icono del símbolo del cerebro humano 19053728 PNG">
            <a:extLst>
              <a:ext uri="{FF2B5EF4-FFF2-40B4-BE49-F238E27FC236}">
                <a16:creationId xmlns:a16="http://schemas.microsoft.com/office/drawing/2014/main" id="{7CB9DD93-77C7-CA2A-2003-CE01EBF58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425" y="2097680"/>
            <a:ext cx="5532575" cy="482842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9">
            <a:extLst>
              <a:ext uri="{FF2B5EF4-FFF2-40B4-BE49-F238E27FC236}">
                <a16:creationId xmlns:a16="http://schemas.microsoft.com/office/drawing/2014/main" id="{8E38A2A9-8699-F1A4-3F14-22B3C62483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92150" y="6244129"/>
            <a:ext cx="2238375" cy="452438"/>
          </a:xfrm>
          <a:prstGeom prst="rect">
            <a:avLst/>
          </a:prstGeom>
          <a:solidFill>
            <a:schemeClr val="bg1"/>
          </a:solidFill>
          <a:ln>
            <a:noFill/>
          </a:ln>
        </p:spPr>
      </p:pic>
    </p:spTree>
    <p:extLst>
      <p:ext uri="{BB962C8B-B14F-4D97-AF65-F5344CB8AC3E}">
        <p14:creationId xmlns:p14="http://schemas.microsoft.com/office/powerpoint/2010/main" val="1543374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EB55DD5-B712-75E6-FBF8-1032A79FC9EC}"/>
              </a:ext>
            </a:extLst>
          </p:cNvPr>
          <p:cNvSpPr txBox="1"/>
          <p:nvPr/>
        </p:nvSpPr>
        <p:spPr>
          <a:xfrm>
            <a:off x="5311442" y="1672478"/>
            <a:ext cx="6236368" cy="2028312"/>
          </a:xfrm>
          <a:prstGeom prst="rect">
            <a:avLst/>
          </a:prstGeom>
          <a:noFill/>
        </p:spPr>
        <p:txBody>
          <a:bodyPr wrap="square">
            <a:spAutoFit/>
          </a:bodyPr>
          <a:lstStyle/>
          <a:p>
            <a:pPr algn="ctr">
              <a:lnSpc>
                <a:spcPct val="115000"/>
              </a:lnSpc>
            </a:pPr>
            <a:r>
              <a:rPr lang="es-ES" sz="3750" dirty="0">
                <a:solidFill>
                  <a:schemeClr val="accent2">
                    <a:lumMod val="20000"/>
                    <a:lumOff val="80000"/>
                  </a:schemeClr>
                </a:solidFill>
                <a:latin typeface="Arial" panose="020B0604020202020204" pitchFamily="34" charset="0"/>
                <a:ea typeface="Arial" panose="020B0604020202020204" pitchFamily="34" charset="0"/>
                <a:cs typeface="Georgia" panose="02040502050405020303" pitchFamily="18" charset="0"/>
              </a:rPr>
              <a:t>Organización general del sistema nervioso central y periférico</a:t>
            </a:r>
            <a:endParaRPr lang="es-PA" sz="3750" dirty="0">
              <a:solidFill>
                <a:schemeClr val="accent2">
                  <a:lumMod val="20000"/>
                  <a:lumOff val="80000"/>
                </a:schemeClr>
              </a:solidFill>
              <a:latin typeface="Georgia" panose="02040502050405020303" pitchFamily="18" charset="0"/>
              <a:ea typeface="Calibri" panose="020F0502020204030204" pitchFamily="34" charset="0"/>
              <a:cs typeface="Georgia" panose="02040502050405020303" pitchFamily="18" charset="0"/>
            </a:endParaRPr>
          </a:p>
        </p:txBody>
      </p:sp>
      <p:pic>
        <p:nvPicPr>
          <p:cNvPr id="4" name="Imagen 9">
            <a:extLst>
              <a:ext uri="{FF2B5EF4-FFF2-40B4-BE49-F238E27FC236}">
                <a16:creationId xmlns:a16="http://schemas.microsoft.com/office/drawing/2014/main" id="{F578BB89-5D05-0538-C9C5-F3E49F0B722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398271"/>
            <a:ext cx="2238375" cy="452438"/>
          </a:xfrm>
          <a:prstGeom prst="rect">
            <a:avLst/>
          </a:prstGeom>
          <a:solidFill>
            <a:schemeClr val="bg1"/>
          </a:solidFill>
          <a:ln>
            <a:noFill/>
          </a:ln>
        </p:spPr>
      </p:pic>
      <p:pic>
        <p:nvPicPr>
          <p:cNvPr id="2" name="Picture 2" descr="El cerebro de la IA | Foto Premium">
            <a:extLst>
              <a:ext uri="{FF2B5EF4-FFF2-40B4-BE49-F238E27FC236}">
                <a16:creationId xmlns:a16="http://schemas.microsoft.com/office/drawing/2014/main" id="{A1DAFF96-28B4-4516-07C4-7D764C0D1C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487" y="965129"/>
            <a:ext cx="4183528" cy="4927741"/>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452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98264" y="1413033"/>
            <a:ext cx="5348585" cy="428625"/>
          </a:xfrm>
          <a:prstGeom prst="rect">
            <a:avLst/>
          </a:prstGeom>
          <a:noFill/>
          <a:ln/>
        </p:spPr>
        <p:txBody>
          <a:bodyPr wrap="none" lIns="0" tIns="0" rIns="0" bIns="0" rtlCol="0" anchor="t"/>
          <a:lstStyle/>
          <a:p>
            <a:pPr>
              <a:lnSpc>
                <a:spcPts val="3375"/>
              </a:lnSpc>
            </a:pPr>
            <a:r>
              <a:rPr lang="en-US" sz="4000" dirty="0">
                <a:solidFill>
                  <a:srgbClr val="C6BFEE"/>
                </a:solidFill>
                <a:latin typeface="Prompt Medium" pitchFamily="34" charset="0"/>
                <a:ea typeface="Prompt Medium" pitchFamily="34" charset="-122"/>
                <a:cs typeface="Prompt Medium" pitchFamily="34" charset="-120"/>
              </a:rPr>
              <a:t>Divisiones del Sistema Nervioso</a:t>
            </a:r>
            <a:endParaRPr lang="en-US" sz="4000" dirty="0"/>
          </a:p>
        </p:txBody>
      </p:sp>
      <p:sp>
        <p:nvSpPr>
          <p:cNvPr id="3" name="Text 1"/>
          <p:cNvSpPr/>
          <p:nvPr/>
        </p:nvSpPr>
        <p:spPr>
          <a:xfrm>
            <a:off x="1179390" y="2608650"/>
            <a:ext cx="2103016" cy="214313"/>
          </a:xfrm>
          <a:prstGeom prst="rect">
            <a:avLst/>
          </a:prstGeom>
          <a:noFill/>
          <a:ln/>
        </p:spPr>
        <p:txBody>
          <a:bodyPr wrap="none" lIns="0" tIns="0" rIns="0" bIns="0" rtlCol="0" anchor="t"/>
          <a:lstStyle/>
          <a:p>
            <a:pPr>
              <a:lnSpc>
                <a:spcPts val="1688"/>
              </a:lnSpc>
            </a:pPr>
            <a:r>
              <a:rPr lang="en-US" sz="2000" dirty="0">
                <a:solidFill>
                  <a:schemeClr val="bg2">
                    <a:lumMod val="20000"/>
                    <a:lumOff val="80000"/>
                  </a:schemeClr>
                </a:solidFill>
                <a:latin typeface="Prompt Medium" pitchFamily="34" charset="0"/>
                <a:ea typeface="Prompt Medium" pitchFamily="34" charset="-122"/>
                <a:cs typeface="Prompt Medium" pitchFamily="34" charset="-120"/>
              </a:rPr>
              <a:t>Sistema Nervioso Central</a:t>
            </a:r>
            <a:endParaRPr lang="en-US" sz="2000" dirty="0">
              <a:solidFill>
                <a:schemeClr val="bg2">
                  <a:lumMod val="20000"/>
                  <a:lumOff val="80000"/>
                </a:schemeClr>
              </a:solidFill>
            </a:endParaRPr>
          </a:p>
        </p:txBody>
      </p:sp>
      <p:sp>
        <p:nvSpPr>
          <p:cNvPr id="4" name="Text 2"/>
          <p:cNvSpPr/>
          <p:nvPr/>
        </p:nvSpPr>
        <p:spPr>
          <a:xfrm>
            <a:off x="1179390" y="3061401"/>
            <a:ext cx="2436763" cy="493812"/>
          </a:xfrm>
          <a:prstGeom prst="rect">
            <a:avLst/>
          </a:prstGeom>
          <a:noFill/>
          <a:ln/>
        </p:spPr>
        <p:txBody>
          <a:bodyPr wrap="square" lIns="0" tIns="0" rIns="0" bIns="0" rtlCol="0" anchor="t"/>
          <a:lstStyle/>
          <a:p>
            <a:pPr>
              <a:lnSpc>
                <a:spcPts val="1938"/>
              </a:lnSpc>
            </a:pPr>
            <a:r>
              <a:rPr lang="en-US" sz="2000" dirty="0">
                <a:solidFill>
                  <a:srgbClr val="DAD8E9"/>
                </a:solidFill>
                <a:latin typeface="Mukta Light" pitchFamily="34" charset="0"/>
                <a:ea typeface="Mukta Light" pitchFamily="34" charset="-122"/>
                <a:cs typeface="Mukta Light" pitchFamily="34" charset="-120"/>
              </a:rPr>
              <a:t>Encéfalo y médula espinal forman el SNC, controlan funciones vitales.</a:t>
            </a:r>
            <a:endParaRPr lang="en-US" sz="2000" dirty="0"/>
          </a:p>
        </p:txBody>
      </p:sp>
      <p:sp>
        <p:nvSpPr>
          <p:cNvPr id="5" name="Text 3"/>
          <p:cNvSpPr/>
          <p:nvPr/>
        </p:nvSpPr>
        <p:spPr>
          <a:xfrm>
            <a:off x="4094144" y="4909186"/>
            <a:ext cx="2301924" cy="214313"/>
          </a:xfrm>
          <a:prstGeom prst="rect">
            <a:avLst/>
          </a:prstGeom>
          <a:noFill/>
          <a:ln/>
        </p:spPr>
        <p:txBody>
          <a:bodyPr wrap="none" lIns="0" tIns="0" rIns="0" bIns="0" rtlCol="0" anchor="t"/>
          <a:lstStyle/>
          <a:p>
            <a:pPr>
              <a:lnSpc>
                <a:spcPts val="1688"/>
              </a:lnSpc>
            </a:pPr>
            <a:r>
              <a:rPr lang="en-US" sz="2400" dirty="0">
                <a:solidFill>
                  <a:srgbClr val="C6BFEE"/>
                </a:solidFill>
                <a:latin typeface="Prompt Medium" pitchFamily="34" charset="0"/>
                <a:ea typeface="Prompt Medium" pitchFamily="34" charset="-122"/>
                <a:cs typeface="Prompt Medium" pitchFamily="34" charset="-120"/>
              </a:rPr>
              <a:t>Sistema Nervioso Periférico</a:t>
            </a:r>
            <a:endParaRPr lang="en-US" sz="2400" dirty="0"/>
          </a:p>
        </p:txBody>
      </p:sp>
      <p:sp>
        <p:nvSpPr>
          <p:cNvPr id="6" name="Text 4"/>
          <p:cNvSpPr/>
          <p:nvPr/>
        </p:nvSpPr>
        <p:spPr>
          <a:xfrm>
            <a:off x="4372556" y="5341183"/>
            <a:ext cx="2436763" cy="493812"/>
          </a:xfrm>
          <a:prstGeom prst="rect">
            <a:avLst/>
          </a:prstGeom>
          <a:noFill/>
          <a:ln/>
        </p:spPr>
        <p:txBody>
          <a:bodyPr wrap="square" lIns="0" tIns="0" rIns="0" bIns="0" rtlCol="0" anchor="t"/>
          <a:lstStyle/>
          <a:p>
            <a:pPr>
              <a:lnSpc>
                <a:spcPts val="1938"/>
              </a:lnSpc>
            </a:pPr>
            <a:r>
              <a:rPr lang="en-US" sz="2000" dirty="0">
                <a:solidFill>
                  <a:srgbClr val="DAD8E9"/>
                </a:solidFill>
                <a:latin typeface="Mukta Light" pitchFamily="34" charset="0"/>
                <a:ea typeface="Mukta Light" pitchFamily="34" charset="-122"/>
                <a:cs typeface="Mukta Light" pitchFamily="34" charset="-120"/>
              </a:rPr>
              <a:t>Nervios y ganglios conectan el cuerpo con el SNC, transmiten señales</a:t>
            </a:r>
            <a:r>
              <a:rPr lang="en-US" sz="1188" dirty="0">
                <a:solidFill>
                  <a:srgbClr val="DAD8E9"/>
                </a:solidFill>
                <a:latin typeface="Mukta Light" pitchFamily="34" charset="0"/>
                <a:ea typeface="Mukta Light" pitchFamily="34" charset="-122"/>
                <a:cs typeface="Mukta Light" pitchFamily="34" charset="-120"/>
              </a:rPr>
              <a:t>.</a:t>
            </a:r>
            <a:endParaRPr lang="en-US" sz="1188" dirty="0"/>
          </a:p>
        </p:txBody>
      </p:sp>
      <p:sp>
        <p:nvSpPr>
          <p:cNvPr id="7" name="Text 5"/>
          <p:cNvSpPr/>
          <p:nvPr/>
        </p:nvSpPr>
        <p:spPr>
          <a:xfrm>
            <a:off x="7699846" y="3212084"/>
            <a:ext cx="1714500" cy="214313"/>
          </a:xfrm>
          <a:prstGeom prst="rect">
            <a:avLst/>
          </a:prstGeom>
          <a:noFill/>
          <a:ln/>
        </p:spPr>
        <p:txBody>
          <a:bodyPr wrap="none" lIns="0" tIns="0" rIns="0" bIns="0" rtlCol="0" anchor="t"/>
          <a:lstStyle/>
          <a:p>
            <a:pPr>
              <a:lnSpc>
                <a:spcPts val="1688"/>
              </a:lnSpc>
            </a:pPr>
            <a:r>
              <a:rPr lang="en-US" sz="2800" dirty="0">
                <a:solidFill>
                  <a:srgbClr val="C6BFEE"/>
                </a:solidFill>
                <a:latin typeface="Prompt Medium" pitchFamily="34" charset="0"/>
                <a:ea typeface="Prompt Medium" pitchFamily="34" charset="-122"/>
                <a:cs typeface="Prompt Medium" pitchFamily="34" charset="-120"/>
              </a:rPr>
              <a:t>División</a:t>
            </a:r>
            <a:r>
              <a:rPr lang="en-US" sz="1344" dirty="0">
                <a:solidFill>
                  <a:srgbClr val="C6BFEE"/>
                </a:solidFill>
                <a:latin typeface="Prompt Medium" pitchFamily="34" charset="0"/>
                <a:ea typeface="Prompt Medium" pitchFamily="34" charset="-122"/>
                <a:cs typeface="Prompt Medium" pitchFamily="34" charset="-120"/>
              </a:rPr>
              <a:t> </a:t>
            </a:r>
            <a:r>
              <a:rPr lang="en-US" sz="2400" dirty="0">
                <a:solidFill>
                  <a:srgbClr val="C6BFEE"/>
                </a:solidFill>
                <a:latin typeface="Prompt Medium" pitchFamily="34" charset="0"/>
                <a:ea typeface="Prompt Medium" pitchFamily="34" charset="-122"/>
                <a:cs typeface="Prompt Medium" pitchFamily="34" charset="-120"/>
              </a:rPr>
              <a:t>Funcional</a:t>
            </a:r>
            <a:endParaRPr lang="en-US" sz="2400" dirty="0"/>
          </a:p>
        </p:txBody>
      </p:sp>
      <p:sp>
        <p:nvSpPr>
          <p:cNvPr id="8" name="Text 6"/>
          <p:cNvSpPr/>
          <p:nvPr/>
        </p:nvSpPr>
        <p:spPr>
          <a:xfrm>
            <a:off x="7699848" y="3580655"/>
            <a:ext cx="3146343" cy="740718"/>
          </a:xfrm>
          <a:prstGeom prst="rect">
            <a:avLst/>
          </a:prstGeom>
          <a:noFill/>
          <a:ln/>
        </p:spPr>
        <p:txBody>
          <a:bodyPr wrap="square" lIns="0" tIns="0" rIns="0" bIns="0" rtlCol="0" anchor="t"/>
          <a:lstStyle/>
          <a:p>
            <a:pPr>
              <a:lnSpc>
                <a:spcPts val="1938"/>
              </a:lnSpc>
            </a:pPr>
            <a:r>
              <a:rPr lang="en-US" sz="2000" dirty="0">
                <a:solidFill>
                  <a:srgbClr val="DAD8E9"/>
                </a:solidFill>
                <a:latin typeface="Mukta Light" pitchFamily="34" charset="0"/>
                <a:ea typeface="Mukta Light" pitchFamily="34" charset="-122"/>
                <a:cs typeface="Mukta Light" pitchFamily="34" charset="-120"/>
              </a:rPr>
              <a:t>Somático controla movimientos voluntarios; autónomo regula funciones involuntarias.</a:t>
            </a:r>
            <a:endParaRPr lang="en-US" sz="2000" dirty="0"/>
          </a:p>
        </p:txBody>
      </p:sp>
      <p:pic>
        <p:nvPicPr>
          <p:cNvPr id="9" name="Imagen 9">
            <a:extLst>
              <a:ext uri="{FF2B5EF4-FFF2-40B4-BE49-F238E27FC236}">
                <a16:creationId xmlns:a16="http://schemas.microsoft.com/office/drawing/2014/main" id="{C0427DE3-2215-9370-FAC1-9827878D39F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pic>
        <p:nvPicPr>
          <p:cNvPr id="10" name="Picture 10" descr="El cerebro de la IA | Foto Premium">
            <a:extLst>
              <a:ext uri="{FF2B5EF4-FFF2-40B4-BE49-F238E27FC236}">
                <a16:creationId xmlns:a16="http://schemas.microsoft.com/office/drawing/2014/main" id="{E4521284-49E1-EBCD-1D91-C779E93162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153" y="1886514"/>
            <a:ext cx="2436763" cy="2865451"/>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48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524000" y="857250"/>
            <a:ext cx="3429000" cy="5143500"/>
          </a:xfrm>
          <a:prstGeom prst="rect">
            <a:avLst/>
          </a:prstGeom>
        </p:spPr>
      </p:pic>
      <p:sp>
        <p:nvSpPr>
          <p:cNvPr id="3" name="Text 0"/>
          <p:cNvSpPr/>
          <p:nvPr/>
        </p:nvSpPr>
        <p:spPr>
          <a:xfrm>
            <a:off x="5493024" y="1753195"/>
            <a:ext cx="4634954" cy="857250"/>
          </a:xfrm>
          <a:prstGeom prst="rect">
            <a:avLst/>
          </a:prstGeom>
          <a:noFill/>
          <a:ln/>
        </p:spPr>
        <p:txBody>
          <a:bodyPr wrap="square" lIns="0" tIns="0" rIns="0" bIns="0" rtlCol="0" anchor="t"/>
          <a:lstStyle/>
          <a:p>
            <a:pPr>
              <a:lnSpc>
                <a:spcPts val="3375"/>
              </a:lnSpc>
            </a:pPr>
            <a:r>
              <a:rPr lang="en-US" sz="2688" dirty="0">
                <a:solidFill>
                  <a:srgbClr val="C6BFEE"/>
                </a:solidFill>
                <a:latin typeface="Prompt Medium" pitchFamily="34" charset="0"/>
                <a:ea typeface="Prompt Medium" pitchFamily="34" charset="-122"/>
                <a:cs typeface="Prompt Medium" pitchFamily="34" charset="-120"/>
              </a:rPr>
              <a:t>Sistema Nervioso Central (SNC)</a:t>
            </a:r>
            <a:endParaRPr lang="en-US" sz="2688" dirty="0"/>
          </a:p>
        </p:txBody>
      </p:sp>
      <p:sp>
        <p:nvSpPr>
          <p:cNvPr id="4" name="Shape 1"/>
          <p:cNvSpPr/>
          <p:nvPr/>
        </p:nvSpPr>
        <p:spPr>
          <a:xfrm>
            <a:off x="5493023" y="2841873"/>
            <a:ext cx="347142" cy="347142"/>
          </a:xfrm>
          <a:prstGeom prst="roundRect">
            <a:avLst>
              <a:gd name="adj" fmla="val 18669"/>
            </a:avLst>
          </a:prstGeom>
          <a:solidFill>
            <a:srgbClr val="542C49"/>
          </a:solidFill>
          <a:ln w="15240">
            <a:solidFill>
              <a:srgbClr val="6D4562"/>
            </a:solidFill>
            <a:prstDash val="solid"/>
          </a:ln>
        </p:spPr>
      </p:sp>
      <p:sp>
        <p:nvSpPr>
          <p:cNvPr id="5" name="Text 2"/>
          <p:cNvSpPr/>
          <p:nvPr/>
        </p:nvSpPr>
        <p:spPr>
          <a:xfrm>
            <a:off x="5994425" y="2894856"/>
            <a:ext cx="1714500" cy="214313"/>
          </a:xfrm>
          <a:prstGeom prst="rect">
            <a:avLst/>
          </a:prstGeom>
          <a:noFill/>
          <a:ln/>
        </p:spPr>
        <p:txBody>
          <a:bodyPr wrap="none" lIns="0" tIns="0" rIns="0" bIns="0" rtlCol="0" anchor="t"/>
          <a:lstStyle/>
          <a:p>
            <a:pPr>
              <a:lnSpc>
                <a:spcPts val="1688"/>
              </a:lnSpc>
            </a:pPr>
            <a:r>
              <a:rPr lang="en-US" sz="1344" dirty="0">
                <a:solidFill>
                  <a:srgbClr val="DAD8E9"/>
                </a:solidFill>
                <a:latin typeface="Prompt Medium" pitchFamily="34" charset="0"/>
                <a:ea typeface="Prompt Medium" pitchFamily="34" charset="-122"/>
                <a:cs typeface="Prompt Medium" pitchFamily="34" charset="-120"/>
              </a:rPr>
              <a:t>Encéfalo</a:t>
            </a:r>
            <a:endParaRPr lang="en-US" sz="1344" dirty="0"/>
          </a:p>
        </p:txBody>
      </p:sp>
      <p:sp>
        <p:nvSpPr>
          <p:cNvPr id="6" name="Text 3"/>
          <p:cNvSpPr/>
          <p:nvPr/>
        </p:nvSpPr>
        <p:spPr>
          <a:xfrm>
            <a:off x="5994426" y="3201739"/>
            <a:ext cx="1719634" cy="987624"/>
          </a:xfrm>
          <a:prstGeom prst="rect">
            <a:avLst/>
          </a:prstGeom>
          <a:noFill/>
          <a:ln/>
        </p:spPr>
        <p:txBody>
          <a:bodyPr wrap="squar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Cerebro, cerebelo y tronco encefálico con mesencéfalo, puente y bulbo.</a:t>
            </a:r>
            <a:endParaRPr lang="en-US" sz="1188" dirty="0"/>
          </a:p>
        </p:txBody>
      </p:sp>
      <p:sp>
        <p:nvSpPr>
          <p:cNvPr id="7" name="Shape 4"/>
          <p:cNvSpPr/>
          <p:nvPr/>
        </p:nvSpPr>
        <p:spPr>
          <a:xfrm>
            <a:off x="7906941" y="2841873"/>
            <a:ext cx="347142" cy="347142"/>
          </a:xfrm>
          <a:prstGeom prst="roundRect">
            <a:avLst>
              <a:gd name="adj" fmla="val 18669"/>
            </a:avLst>
          </a:prstGeom>
          <a:solidFill>
            <a:srgbClr val="542C49"/>
          </a:solidFill>
          <a:ln w="15240">
            <a:solidFill>
              <a:srgbClr val="6D4562"/>
            </a:solidFill>
            <a:prstDash val="solid"/>
          </a:ln>
        </p:spPr>
      </p:sp>
      <p:sp>
        <p:nvSpPr>
          <p:cNvPr id="8" name="Text 5"/>
          <p:cNvSpPr/>
          <p:nvPr/>
        </p:nvSpPr>
        <p:spPr>
          <a:xfrm>
            <a:off x="8408343" y="2894856"/>
            <a:ext cx="1714500" cy="214313"/>
          </a:xfrm>
          <a:prstGeom prst="rect">
            <a:avLst/>
          </a:prstGeom>
          <a:noFill/>
          <a:ln/>
        </p:spPr>
        <p:txBody>
          <a:bodyPr wrap="none" lIns="0" tIns="0" rIns="0" bIns="0" rtlCol="0" anchor="t"/>
          <a:lstStyle/>
          <a:p>
            <a:pPr>
              <a:lnSpc>
                <a:spcPts val="1688"/>
              </a:lnSpc>
            </a:pPr>
            <a:r>
              <a:rPr lang="en-US" sz="1344" dirty="0">
                <a:solidFill>
                  <a:srgbClr val="DAD8E9"/>
                </a:solidFill>
                <a:latin typeface="Prompt Medium" pitchFamily="34" charset="0"/>
                <a:ea typeface="Prompt Medium" pitchFamily="34" charset="-122"/>
                <a:cs typeface="Prompt Medium" pitchFamily="34" charset="-120"/>
              </a:rPr>
              <a:t>Médula Espinal</a:t>
            </a:r>
            <a:endParaRPr lang="en-US" sz="1344" dirty="0"/>
          </a:p>
        </p:txBody>
      </p:sp>
      <p:sp>
        <p:nvSpPr>
          <p:cNvPr id="9" name="Text 6"/>
          <p:cNvSpPr/>
          <p:nvPr/>
        </p:nvSpPr>
        <p:spPr>
          <a:xfrm>
            <a:off x="8408343" y="3201739"/>
            <a:ext cx="1719634" cy="987624"/>
          </a:xfrm>
          <a:prstGeom prst="rect">
            <a:avLst/>
          </a:prstGeom>
          <a:noFill/>
          <a:ln/>
        </p:spPr>
        <p:txBody>
          <a:bodyPr wrap="squar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Segmentos cervical, torácico, lumbar y sacro para comunicación nerviosa.</a:t>
            </a:r>
            <a:endParaRPr lang="en-US" sz="1188" dirty="0"/>
          </a:p>
        </p:txBody>
      </p:sp>
      <p:sp>
        <p:nvSpPr>
          <p:cNvPr id="10" name="Shape 7"/>
          <p:cNvSpPr/>
          <p:nvPr/>
        </p:nvSpPr>
        <p:spPr>
          <a:xfrm>
            <a:off x="5493023" y="4497958"/>
            <a:ext cx="347142" cy="347142"/>
          </a:xfrm>
          <a:prstGeom prst="roundRect">
            <a:avLst>
              <a:gd name="adj" fmla="val 18669"/>
            </a:avLst>
          </a:prstGeom>
          <a:solidFill>
            <a:srgbClr val="542C49"/>
          </a:solidFill>
          <a:ln w="15240">
            <a:solidFill>
              <a:srgbClr val="6D4562"/>
            </a:solidFill>
            <a:prstDash val="solid"/>
          </a:ln>
        </p:spPr>
      </p:sp>
      <p:sp>
        <p:nvSpPr>
          <p:cNvPr id="11" name="Text 8"/>
          <p:cNvSpPr/>
          <p:nvPr/>
        </p:nvSpPr>
        <p:spPr>
          <a:xfrm>
            <a:off x="5994425" y="4550941"/>
            <a:ext cx="1714500" cy="214313"/>
          </a:xfrm>
          <a:prstGeom prst="rect">
            <a:avLst/>
          </a:prstGeom>
          <a:noFill/>
          <a:ln/>
        </p:spPr>
        <p:txBody>
          <a:bodyPr wrap="none" lIns="0" tIns="0" rIns="0" bIns="0" rtlCol="0" anchor="t"/>
          <a:lstStyle/>
          <a:p>
            <a:pPr>
              <a:lnSpc>
                <a:spcPts val="1688"/>
              </a:lnSpc>
            </a:pPr>
            <a:r>
              <a:rPr lang="en-US" sz="1344" dirty="0">
                <a:solidFill>
                  <a:srgbClr val="DAD8E9"/>
                </a:solidFill>
                <a:latin typeface="Prompt Medium" pitchFamily="34" charset="0"/>
                <a:ea typeface="Prompt Medium" pitchFamily="34" charset="-122"/>
                <a:cs typeface="Prompt Medium" pitchFamily="34" charset="-120"/>
              </a:rPr>
              <a:t>Sustancias</a:t>
            </a:r>
            <a:endParaRPr lang="en-US" sz="1344" dirty="0"/>
          </a:p>
        </p:txBody>
      </p:sp>
      <p:sp>
        <p:nvSpPr>
          <p:cNvPr id="12" name="Text 9"/>
          <p:cNvSpPr/>
          <p:nvPr/>
        </p:nvSpPr>
        <p:spPr>
          <a:xfrm>
            <a:off x="5994426" y="4857825"/>
            <a:ext cx="4133553" cy="246906"/>
          </a:xfrm>
          <a:prstGeom prst="rect">
            <a:avLst/>
          </a:prstGeom>
          <a:noFill/>
          <a:ln/>
        </p:spPr>
        <p:txBody>
          <a:bodyPr wrap="non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Gris: cuerpos neuronales. Blanca: axones que transmiten señales.</a:t>
            </a:r>
            <a:endParaRPr lang="en-US" sz="1188" dirty="0"/>
          </a:p>
        </p:txBody>
      </p:sp>
      <p:pic>
        <p:nvPicPr>
          <p:cNvPr id="13" name="Imagen 9">
            <a:extLst>
              <a:ext uri="{FF2B5EF4-FFF2-40B4-BE49-F238E27FC236}">
                <a16:creationId xmlns:a16="http://schemas.microsoft.com/office/drawing/2014/main" id="{03A47686-4A4C-35E2-5A5B-5FE4945E35D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953625" y="6321103"/>
            <a:ext cx="2238375" cy="452438"/>
          </a:xfrm>
          <a:prstGeom prst="rect">
            <a:avLst/>
          </a:prstGeom>
          <a:solidFill>
            <a:schemeClr val="bg1"/>
          </a:solidFill>
          <a:ln>
            <a:noFill/>
          </a:ln>
        </p:spPr>
      </p:pic>
    </p:spTree>
    <p:extLst>
      <p:ext uri="{BB962C8B-B14F-4D97-AF65-F5344CB8AC3E}">
        <p14:creationId xmlns:p14="http://schemas.microsoft.com/office/powerpoint/2010/main" val="3983103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524000" y="857250"/>
            <a:ext cx="3429000" cy="5143500"/>
          </a:xfrm>
          <a:prstGeom prst="rect">
            <a:avLst/>
          </a:prstGeom>
        </p:spPr>
      </p:pic>
      <p:sp>
        <p:nvSpPr>
          <p:cNvPr id="3" name="Text 0"/>
          <p:cNvSpPr/>
          <p:nvPr/>
        </p:nvSpPr>
        <p:spPr>
          <a:xfrm>
            <a:off x="5493024" y="1555775"/>
            <a:ext cx="4634954" cy="857250"/>
          </a:xfrm>
          <a:prstGeom prst="rect">
            <a:avLst/>
          </a:prstGeom>
          <a:noFill/>
          <a:ln/>
        </p:spPr>
        <p:txBody>
          <a:bodyPr wrap="square" lIns="0" tIns="0" rIns="0" bIns="0" rtlCol="0" anchor="t"/>
          <a:lstStyle/>
          <a:p>
            <a:pPr>
              <a:lnSpc>
                <a:spcPts val="3375"/>
              </a:lnSpc>
            </a:pPr>
            <a:r>
              <a:rPr lang="en-US" sz="2688" dirty="0">
                <a:solidFill>
                  <a:srgbClr val="C6BFEE"/>
                </a:solidFill>
                <a:latin typeface="Prompt Medium" pitchFamily="34" charset="0"/>
                <a:ea typeface="Prompt Medium" pitchFamily="34" charset="-122"/>
                <a:cs typeface="Prompt Medium" pitchFamily="34" charset="-120"/>
              </a:rPr>
              <a:t>Sistema Nervioso Periférico (SNP)</a:t>
            </a:r>
            <a:endParaRPr lang="en-US" sz="2688" dirty="0"/>
          </a:p>
        </p:txBody>
      </p:sp>
      <p:sp>
        <p:nvSpPr>
          <p:cNvPr id="4" name="Shape 1"/>
          <p:cNvSpPr/>
          <p:nvPr/>
        </p:nvSpPr>
        <p:spPr>
          <a:xfrm>
            <a:off x="5493024" y="2644453"/>
            <a:ext cx="2240384" cy="1375172"/>
          </a:xfrm>
          <a:prstGeom prst="roundRect">
            <a:avLst>
              <a:gd name="adj" fmla="val 4713"/>
            </a:avLst>
          </a:prstGeom>
          <a:solidFill>
            <a:srgbClr val="542C49"/>
          </a:solidFill>
          <a:ln w="15240">
            <a:solidFill>
              <a:srgbClr val="6D4562"/>
            </a:solidFill>
            <a:prstDash val="solid"/>
          </a:ln>
        </p:spPr>
      </p:sp>
      <p:sp>
        <p:nvSpPr>
          <p:cNvPr id="5" name="Text 2"/>
          <p:cNvSpPr/>
          <p:nvPr/>
        </p:nvSpPr>
        <p:spPr>
          <a:xfrm>
            <a:off x="5656808" y="2808239"/>
            <a:ext cx="1714500" cy="214313"/>
          </a:xfrm>
          <a:prstGeom prst="rect">
            <a:avLst/>
          </a:prstGeom>
          <a:noFill/>
          <a:ln/>
        </p:spPr>
        <p:txBody>
          <a:bodyPr wrap="none" lIns="0" tIns="0" rIns="0" bIns="0" rtlCol="0" anchor="t"/>
          <a:lstStyle/>
          <a:p>
            <a:pPr>
              <a:lnSpc>
                <a:spcPts val="1688"/>
              </a:lnSpc>
            </a:pPr>
            <a:r>
              <a:rPr lang="en-US" sz="1344" dirty="0">
                <a:solidFill>
                  <a:srgbClr val="DAD8E9"/>
                </a:solidFill>
                <a:latin typeface="Prompt Medium" pitchFamily="34" charset="0"/>
                <a:ea typeface="Prompt Medium" pitchFamily="34" charset="-122"/>
                <a:cs typeface="Prompt Medium" pitchFamily="34" charset="-120"/>
              </a:rPr>
              <a:t>Nervios Craneales</a:t>
            </a:r>
            <a:endParaRPr lang="en-US" sz="1344" dirty="0"/>
          </a:p>
        </p:txBody>
      </p:sp>
      <p:sp>
        <p:nvSpPr>
          <p:cNvPr id="6" name="Text 3"/>
          <p:cNvSpPr/>
          <p:nvPr/>
        </p:nvSpPr>
        <p:spPr>
          <a:xfrm>
            <a:off x="5656808" y="3115121"/>
            <a:ext cx="1912814" cy="740718"/>
          </a:xfrm>
          <a:prstGeom prst="rect">
            <a:avLst/>
          </a:prstGeom>
          <a:noFill/>
          <a:ln/>
        </p:spPr>
        <p:txBody>
          <a:bodyPr wrap="squar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12 pares con funciones motoras y sensoriales en cabeza y cuello.</a:t>
            </a:r>
            <a:endParaRPr lang="en-US" sz="1188" dirty="0"/>
          </a:p>
        </p:txBody>
      </p:sp>
      <p:sp>
        <p:nvSpPr>
          <p:cNvPr id="7" name="Shape 4"/>
          <p:cNvSpPr/>
          <p:nvPr/>
        </p:nvSpPr>
        <p:spPr>
          <a:xfrm>
            <a:off x="7887668" y="2644453"/>
            <a:ext cx="2240384" cy="1375172"/>
          </a:xfrm>
          <a:prstGeom prst="roundRect">
            <a:avLst>
              <a:gd name="adj" fmla="val 4713"/>
            </a:avLst>
          </a:prstGeom>
          <a:solidFill>
            <a:srgbClr val="542C49"/>
          </a:solidFill>
          <a:ln w="15240">
            <a:solidFill>
              <a:srgbClr val="6D4562"/>
            </a:solidFill>
            <a:prstDash val="solid"/>
          </a:ln>
        </p:spPr>
      </p:sp>
      <p:sp>
        <p:nvSpPr>
          <p:cNvPr id="8" name="Text 5"/>
          <p:cNvSpPr/>
          <p:nvPr/>
        </p:nvSpPr>
        <p:spPr>
          <a:xfrm>
            <a:off x="8051453" y="2808239"/>
            <a:ext cx="1714500" cy="214313"/>
          </a:xfrm>
          <a:prstGeom prst="rect">
            <a:avLst/>
          </a:prstGeom>
          <a:noFill/>
          <a:ln/>
        </p:spPr>
        <p:txBody>
          <a:bodyPr wrap="none" lIns="0" tIns="0" rIns="0" bIns="0" rtlCol="0" anchor="t"/>
          <a:lstStyle/>
          <a:p>
            <a:pPr>
              <a:lnSpc>
                <a:spcPts val="1688"/>
              </a:lnSpc>
            </a:pPr>
            <a:r>
              <a:rPr lang="en-US" sz="1344" dirty="0">
                <a:solidFill>
                  <a:srgbClr val="DAD8E9"/>
                </a:solidFill>
                <a:latin typeface="Prompt Medium" pitchFamily="34" charset="0"/>
                <a:ea typeface="Prompt Medium" pitchFamily="34" charset="-122"/>
                <a:cs typeface="Prompt Medium" pitchFamily="34" charset="-120"/>
              </a:rPr>
              <a:t>Nervios Espinales</a:t>
            </a:r>
            <a:endParaRPr lang="en-US" sz="1344" dirty="0"/>
          </a:p>
        </p:txBody>
      </p:sp>
      <p:sp>
        <p:nvSpPr>
          <p:cNvPr id="9" name="Text 6"/>
          <p:cNvSpPr/>
          <p:nvPr/>
        </p:nvSpPr>
        <p:spPr>
          <a:xfrm>
            <a:off x="8051452" y="3115122"/>
            <a:ext cx="1912814" cy="493812"/>
          </a:xfrm>
          <a:prstGeom prst="rect">
            <a:avLst/>
          </a:prstGeom>
          <a:noFill/>
          <a:ln/>
        </p:spPr>
        <p:txBody>
          <a:bodyPr wrap="squar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31 pares que conectan médula espinal con el cuerpo.</a:t>
            </a:r>
            <a:endParaRPr lang="en-US" sz="1188" dirty="0"/>
          </a:p>
        </p:txBody>
      </p:sp>
      <p:sp>
        <p:nvSpPr>
          <p:cNvPr id="10" name="Shape 7"/>
          <p:cNvSpPr/>
          <p:nvPr/>
        </p:nvSpPr>
        <p:spPr>
          <a:xfrm>
            <a:off x="5493024" y="4173885"/>
            <a:ext cx="4634954" cy="1128266"/>
          </a:xfrm>
          <a:prstGeom prst="roundRect">
            <a:avLst>
              <a:gd name="adj" fmla="val 5744"/>
            </a:avLst>
          </a:prstGeom>
          <a:solidFill>
            <a:srgbClr val="542C49"/>
          </a:solidFill>
          <a:ln w="15240">
            <a:solidFill>
              <a:srgbClr val="6D4562"/>
            </a:solidFill>
            <a:prstDash val="solid"/>
          </a:ln>
        </p:spPr>
      </p:sp>
      <p:sp>
        <p:nvSpPr>
          <p:cNvPr id="11" name="Text 8"/>
          <p:cNvSpPr/>
          <p:nvPr/>
        </p:nvSpPr>
        <p:spPr>
          <a:xfrm>
            <a:off x="5656809" y="4337671"/>
            <a:ext cx="1881708" cy="214313"/>
          </a:xfrm>
          <a:prstGeom prst="rect">
            <a:avLst/>
          </a:prstGeom>
          <a:noFill/>
          <a:ln/>
        </p:spPr>
        <p:txBody>
          <a:bodyPr wrap="none" lIns="0" tIns="0" rIns="0" bIns="0" rtlCol="0" anchor="t"/>
          <a:lstStyle/>
          <a:p>
            <a:pPr>
              <a:lnSpc>
                <a:spcPts val="1688"/>
              </a:lnSpc>
            </a:pPr>
            <a:r>
              <a:rPr lang="en-US" sz="1344" dirty="0">
                <a:solidFill>
                  <a:srgbClr val="DAD8E9"/>
                </a:solidFill>
                <a:latin typeface="Prompt Medium" pitchFamily="34" charset="0"/>
                <a:ea typeface="Prompt Medium" pitchFamily="34" charset="-122"/>
                <a:cs typeface="Prompt Medium" pitchFamily="34" charset="-120"/>
              </a:rPr>
              <a:t>Divisiones Funcionales</a:t>
            </a:r>
            <a:endParaRPr lang="en-US" sz="1344" dirty="0"/>
          </a:p>
        </p:txBody>
      </p:sp>
      <p:sp>
        <p:nvSpPr>
          <p:cNvPr id="12" name="Text 9"/>
          <p:cNvSpPr/>
          <p:nvPr/>
        </p:nvSpPr>
        <p:spPr>
          <a:xfrm>
            <a:off x="5656808" y="4644554"/>
            <a:ext cx="4307384" cy="493812"/>
          </a:xfrm>
          <a:prstGeom prst="rect">
            <a:avLst/>
          </a:prstGeom>
          <a:noFill/>
          <a:ln/>
        </p:spPr>
        <p:txBody>
          <a:bodyPr wrap="squar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Somático para movimientos conscientes, autónomo controla órganos internos.</a:t>
            </a:r>
            <a:endParaRPr lang="en-US" sz="1188" dirty="0"/>
          </a:p>
        </p:txBody>
      </p:sp>
      <p:pic>
        <p:nvPicPr>
          <p:cNvPr id="13" name="Imagen 9">
            <a:extLst>
              <a:ext uri="{FF2B5EF4-FFF2-40B4-BE49-F238E27FC236}">
                <a16:creationId xmlns:a16="http://schemas.microsoft.com/office/drawing/2014/main" id="{34386D39-2CC8-F27D-2DBC-23A024D948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6" y="5548312"/>
            <a:ext cx="2238375" cy="452438"/>
          </a:xfrm>
          <a:prstGeom prst="rect">
            <a:avLst/>
          </a:prstGeom>
          <a:solidFill>
            <a:schemeClr val="bg1"/>
          </a:solidFill>
          <a:ln>
            <a:noFill/>
          </a:ln>
        </p:spPr>
      </p:pic>
    </p:spTree>
    <p:extLst>
      <p:ext uri="{BB962C8B-B14F-4D97-AF65-F5344CB8AC3E}">
        <p14:creationId xmlns:p14="http://schemas.microsoft.com/office/powerpoint/2010/main" val="929415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55A9764-AF88-5B02-F51E-B8E3C628AB59}"/>
              </a:ext>
            </a:extLst>
          </p:cNvPr>
          <p:cNvSpPr txBox="1"/>
          <p:nvPr/>
        </p:nvSpPr>
        <p:spPr>
          <a:xfrm>
            <a:off x="913505" y="1645920"/>
            <a:ext cx="7880684" cy="3670236"/>
          </a:xfrm>
          <a:prstGeom prst="rect">
            <a:avLst/>
          </a:prstGeom>
          <a:noFill/>
        </p:spPr>
        <p:txBody>
          <a:bodyPr wrap="square">
            <a:spAutoFit/>
          </a:bodyPr>
          <a:lstStyle/>
          <a:p>
            <a:r>
              <a:rPr lang="es-ES" sz="3750" b="1" dirty="0">
                <a:solidFill>
                  <a:schemeClr val="accent4">
                    <a:lumMod val="20000"/>
                    <a:lumOff val="80000"/>
                  </a:schemeClr>
                </a:solidFill>
              </a:rPr>
              <a:t>Sistema Nervioso Periférico (SNP)</a:t>
            </a:r>
          </a:p>
          <a:p>
            <a:pPr>
              <a:buFont typeface="Arial" panose="020B0604020202020204" pitchFamily="34" charset="0"/>
              <a:buChar char="•"/>
            </a:pPr>
            <a:r>
              <a:rPr lang="es-ES" sz="2250" b="1" dirty="0">
                <a:solidFill>
                  <a:schemeClr val="accent5">
                    <a:lumMod val="20000"/>
                    <a:lumOff val="80000"/>
                  </a:schemeClr>
                </a:solidFill>
              </a:rPr>
              <a:t>Nervios craneales</a:t>
            </a:r>
            <a:r>
              <a:rPr lang="es-ES" sz="2250" dirty="0">
                <a:solidFill>
                  <a:schemeClr val="accent5">
                    <a:lumMod val="20000"/>
                    <a:lumOff val="80000"/>
                  </a:schemeClr>
                </a:solidFill>
              </a:rPr>
              <a:t>: conectan el cerebro con partes de la cabeza y cuello.</a:t>
            </a:r>
          </a:p>
          <a:p>
            <a:pPr>
              <a:buFont typeface="Arial" panose="020B0604020202020204" pitchFamily="34" charset="0"/>
              <a:buChar char="•"/>
            </a:pPr>
            <a:r>
              <a:rPr lang="es-ES" sz="2250" b="1" dirty="0">
                <a:solidFill>
                  <a:schemeClr val="accent5">
                    <a:lumMod val="20000"/>
                    <a:lumOff val="80000"/>
                  </a:schemeClr>
                </a:solidFill>
              </a:rPr>
              <a:t>Nervios espinales</a:t>
            </a:r>
            <a:r>
              <a:rPr lang="es-ES" sz="2250" dirty="0">
                <a:solidFill>
                  <a:schemeClr val="accent5">
                    <a:lumMod val="20000"/>
                    <a:lumOff val="80000"/>
                  </a:schemeClr>
                </a:solidFill>
              </a:rPr>
              <a:t>: salen de la médula espinal y llegan al resto del cuerpo.</a:t>
            </a:r>
          </a:p>
          <a:p>
            <a:pPr>
              <a:buFont typeface="Arial" panose="020B0604020202020204" pitchFamily="34" charset="0"/>
              <a:buChar char="•"/>
            </a:pPr>
            <a:r>
              <a:rPr lang="es-ES" sz="2250" b="1" dirty="0">
                <a:solidFill>
                  <a:schemeClr val="accent5">
                    <a:lumMod val="20000"/>
                    <a:lumOff val="80000"/>
                  </a:schemeClr>
                </a:solidFill>
              </a:rPr>
              <a:t>División somática</a:t>
            </a:r>
            <a:r>
              <a:rPr lang="es-ES" sz="2250" dirty="0">
                <a:solidFill>
                  <a:schemeClr val="accent5">
                    <a:lumMod val="20000"/>
                    <a:lumOff val="80000"/>
                  </a:schemeClr>
                </a:solidFill>
              </a:rPr>
              <a:t>: controla movimientos voluntarios.</a:t>
            </a:r>
          </a:p>
          <a:p>
            <a:pPr>
              <a:buFont typeface="Arial" panose="020B0604020202020204" pitchFamily="34" charset="0"/>
              <a:buChar char="•"/>
            </a:pPr>
            <a:r>
              <a:rPr lang="es-ES" sz="2250" b="1" dirty="0">
                <a:solidFill>
                  <a:schemeClr val="accent5">
                    <a:lumMod val="20000"/>
                    <a:lumOff val="80000"/>
                  </a:schemeClr>
                </a:solidFill>
              </a:rPr>
              <a:t>División autónoma</a:t>
            </a:r>
            <a:r>
              <a:rPr lang="es-ES" sz="2250" dirty="0">
                <a:solidFill>
                  <a:schemeClr val="accent5">
                    <a:lumMod val="20000"/>
                    <a:lumOff val="80000"/>
                  </a:schemeClr>
                </a:solidFill>
              </a:rPr>
              <a:t>: controla funciones involuntarias (simpático y parasimpático).</a:t>
            </a:r>
          </a:p>
        </p:txBody>
      </p:sp>
      <p:pic>
        <p:nvPicPr>
          <p:cNvPr id="2" name="Picture 10" descr="El cerebro de la IA | Foto Premium">
            <a:extLst>
              <a:ext uri="{FF2B5EF4-FFF2-40B4-BE49-F238E27FC236}">
                <a16:creationId xmlns:a16="http://schemas.microsoft.com/office/drawing/2014/main" id="{E8CAABBB-914B-E820-6977-A0249FAF5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4189" y="801857"/>
            <a:ext cx="3261823" cy="5275385"/>
          </a:xfrm>
          <a:prstGeom prst="hexagon">
            <a:avLst/>
          </a:prstGeom>
          <a:noFill/>
          <a:extLst>
            <a:ext uri="{909E8E84-426E-40DD-AFC4-6F175D3DCCD1}">
              <a14:hiddenFill xmlns:a14="http://schemas.microsoft.com/office/drawing/2010/main">
                <a:solidFill>
                  <a:srgbClr val="FFFFFF"/>
                </a:solidFill>
              </a14:hiddenFill>
            </a:ext>
          </a:extLst>
        </p:spPr>
      </p:pic>
      <p:pic>
        <p:nvPicPr>
          <p:cNvPr id="4" name="Imagen 9">
            <a:extLst>
              <a:ext uri="{FF2B5EF4-FFF2-40B4-BE49-F238E27FC236}">
                <a16:creationId xmlns:a16="http://schemas.microsoft.com/office/drawing/2014/main" id="{370760DB-9AFB-CEDC-ABED-AF8EA2D084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421006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545357" y="1226128"/>
            <a:ext cx="4550643" cy="428625"/>
          </a:xfrm>
          <a:prstGeom prst="rect">
            <a:avLst/>
          </a:prstGeom>
          <a:noFill/>
          <a:ln/>
        </p:spPr>
        <p:txBody>
          <a:bodyPr wrap="none" lIns="0" tIns="0" rIns="0" bIns="0" rtlCol="0" anchor="t"/>
          <a:lstStyle/>
          <a:p>
            <a:pPr>
              <a:lnSpc>
                <a:spcPts val="3375"/>
              </a:lnSpc>
            </a:pPr>
            <a:r>
              <a:rPr lang="en-US" sz="3600" dirty="0">
                <a:solidFill>
                  <a:srgbClr val="C6BFEE"/>
                </a:solidFill>
                <a:latin typeface="Prompt Medium" pitchFamily="34" charset="0"/>
                <a:ea typeface="Prompt Medium" pitchFamily="34" charset="-122"/>
                <a:cs typeface="Prompt Medium" pitchFamily="34" charset="-120"/>
              </a:rPr>
              <a:t>Estructura Celular Nerviosa</a:t>
            </a:r>
            <a:endParaRPr lang="en-US" sz="3600" dirty="0"/>
          </a:p>
        </p:txBody>
      </p:sp>
      <p:sp>
        <p:nvSpPr>
          <p:cNvPr id="3" name="Text 1"/>
          <p:cNvSpPr/>
          <p:nvPr/>
        </p:nvSpPr>
        <p:spPr>
          <a:xfrm>
            <a:off x="2064023" y="2926706"/>
            <a:ext cx="1714500" cy="214313"/>
          </a:xfrm>
          <a:prstGeom prst="rect">
            <a:avLst/>
          </a:prstGeom>
          <a:noFill/>
          <a:ln/>
        </p:spPr>
        <p:txBody>
          <a:bodyPr wrap="none" lIns="0" tIns="0" rIns="0" bIns="0" rtlCol="0" anchor="t"/>
          <a:lstStyle/>
          <a:p>
            <a:pPr>
              <a:lnSpc>
                <a:spcPts val="1688"/>
              </a:lnSpc>
            </a:pPr>
            <a:r>
              <a:rPr lang="en-US" sz="2400" dirty="0">
                <a:solidFill>
                  <a:srgbClr val="C6BFEE"/>
                </a:solidFill>
                <a:latin typeface="Prompt Medium" pitchFamily="34" charset="0"/>
                <a:ea typeface="Prompt Medium" pitchFamily="34" charset="-122"/>
                <a:cs typeface="Prompt Medium" pitchFamily="34" charset="-120"/>
              </a:rPr>
              <a:t>Neurona</a:t>
            </a:r>
            <a:endParaRPr lang="en-US" sz="2400" dirty="0"/>
          </a:p>
        </p:txBody>
      </p:sp>
      <p:sp>
        <p:nvSpPr>
          <p:cNvPr id="4" name="Text 2"/>
          <p:cNvSpPr/>
          <p:nvPr/>
        </p:nvSpPr>
        <p:spPr>
          <a:xfrm>
            <a:off x="2064025" y="3295278"/>
            <a:ext cx="2436763" cy="740718"/>
          </a:xfrm>
          <a:prstGeom prst="rect">
            <a:avLst/>
          </a:prstGeom>
          <a:noFill/>
          <a:ln/>
        </p:spPr>
        <p:txBody>
          <a:bodyPr wrap="squar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Conformada por pericarion, dendritas que reciben señales, y axón que las envía.</a:t>
            </a:r>
            <a:endParaRPr lang="en-US" sz="1188" dirty="0"/>
          </a:p>
        </p:txBody>
      </p:sp>
      <p:sp>
        <p:nvSpPr>
          <p:cNvPr id="5" name="Text 3"/>
          <p:cNvSpPr/>
          <p:nvPr/>
        </p:nvSpPr>
        <p:spPr>
          <a:xfrm>
            <a:off x="4881934" y="2926706"/>
            <a:ext cx="1714500" cy="214313"/>
          </a:xfrm>
          <a:prstGeom prst="rect">
            <a:avLst/>
          </a:prstGeom>
          <a:noFill/>
          <a:ln/>
        </p:spPr>
        <p:txBody>
          <a:bodyPr wrap="none" lIns="0" tIns="0" rIns="0" bIns="0" rtlCol="0" anchor="t"/>
          <a:lstStyle/>
          <a:p>
            <a:pPr>
              <a:lnSpc>
                <a:spcPts val="1688"/>
              </a:lnSpc>
            </a:pPr>
            <a:r>
              <a:rPr lang="en-US" sz="2800" dirty="0">
                <a:solidFill>
                  <a:srgbClr val="C6BFEE"/>
                </a:solidFill>
                <a:latin typeface="Prompt Medium" pitchFamily="34" charset="0"/>
                <a:ea typeface="Prompt Medium" pitchFamily="34" charset="-122"/>
                <a:cs typeface="Prompt Medium" pitchFamily="34" charset="-120"/>
              </a:rPr>
              <a:t>Sinapsis</a:t>
            </a:r>
            <a:endParaRPr lang="en-US" sz="2800" dirty="0"/>
          </a:p>
        </p:txBody>
      </p:sp>
      <p:sp>
        <p:nvSpPr>
          <p:cNvPr id="6" name="Text 4"/>
          <p:cNvSpPr/>
          <p:nvPr/>
        </p:nvSpPr>
        <p:spPr>
          <a:xfrm>
            <a:off x="4881936" y="3295278"/>
            <a:ext cx="2436763" cy="493812"/>
          </a:xfrm>
          <a:prstGeom prst="rect">
            <a:avLst/>
          </a:prstGeom>
          <a:noFill/>
          <a:ln/>
        </p:spPr>
        <p:txBody>
          <a:bodyPr wrap="square" lIns="0" tIns="0" rIns="0" bIns="0" rtlCol="0" anchor="t"/>
          <a:lstStyle/>
          <a:p>
            <a:pPr>
              <a:lnSpc>
                <a:spcPts val="1938"/>
              </a:lnSpc>
            </a:pPr>
            <a:r>
              <a:rPr lang="en-US" sz="1188" dirty="0">
                <a:solidFill>
                  <a:srgbClr val="DAD8E9"/>
                </a:solidFill>
                <a:latin typeface="Mukta Light" pitchFamily="34" charset="0"/>
                <a:ea typeface="Mukta Light" pitchFamily="34" charset="-122"/>
                <a:cs typeface="Mukta Light" pitchFamily="34" charset="-120"/>
              </a:rPr>
              <a:t>Conexiones entre neuronas que permiten comunicación neuroquímica.</a:t>
            </a:r>
            <a:endParaRPr lang="en-US" sz="1188" dirty="0"/>
          </a:p>
        </p:txBody>
      </p:sp>
      <p:sp>
        <p:nvSpPr>
          <p:cNvPr id="7" name="Text 5"/>
          <p:cNvSpPr/>
          <p:nvPr/>
        </p:nvSpPr>
        <p:spPr>
          <a:xfrm>
            <a:off x="7699846" y="2926706"/>
            <a:ext cx="1714500" cy="214313"/>
          </a:xfrm>
          <a:prstGeom prst="rect">
            <a:avLst/>
          </a:prstGeom>
          <a:noFill/>
          <a:ln/>
        </p:spPr>
        <p:txBody>
          <a:bodyPr wrap="none" lIns="0" tIns="0" rIns="0" bIns="0" rtlCol="0" anchor="t"/>
          <a:lstStyle/>
          <a:p>
            <a:pPr>
              <a:lnSpc>
                <a:spcPts val="1688"/>
              </a:lnSpc>
            </a:pPr>
            <a:r>
              <a:rPr lang="en-US" sz="2400" dirty="0">
                <a:solidFill>
                  <a:srgbClr val="C6BFEE"/>
                </a:solidFill>
                <a:latin typeface="Prompt Medium" pitchFamily="34" charset="0"/>
                <a:ea typeface="Prompt Medium" pitchFamily="34" charset="-122"/>
                <a:cs typeface="Prompt Medium" pitchFamily="34" charset="-120"/>
              </a:rPr>
              <a:t>Células Gliales</a:t>
            </a:r>
            <a:endParaRPr lang="en-US" sz="2400" dirty="0"/>
          </a:p>
        </p:txBody>
      </p:sp>
      <p:sp>
        <p:nvSpPr>
          <p:cNvPr id="8" name="Text 6"/>
          <p:cNvSpPr/>
          <p:nvPr/>
        </p:nvSpPr>
        <p:spPr>
          <a:xfrm>
            <a:off x="7699848" y="3295278"/>
            <a:ext cx="2436763" cy="246906"/>
          </a:xfrm>
          <a:prstGeom prst="rect">
            <a:avLst/>
          </a:prstGeom>
          <a:noFill/>
          <a:ln/>
        </p:spPr>
        <p:txBody>
          <a:bodyPr wrap="none" lIns="0" tIns="0" rIns="0" bIns="0" rtlCol="0" anchor="t"/>
          <a:lstStyle/>
          <a:p>
            <a:pPr marL="214313" indent="-214313">
              <a:lnSpc>
                <a:spcPts val="1938"/>
              </a:lnSpc>
              <a:buSzPct val="100000"/>
              <a:buChar char="•"/>
            </a:pPr>
            <a:r>
              <a:rPr lang="en-US" sz="1188" dirty="0">
                <a:solidFill>
                  <a:srgbClr val="DAD8E9"/>
                </a:solidFill>
                <a:latin typeface="Mukta Light" pitchFamily="34" charset="0"/>
                <a:ea typeface="Mukta Light" pitchFamily="34" charset="-122"/>
                <a:cs typeface="Mukta Light" pitchFamily="34" charset="-120"/>
              </a:rPr>
              <a:t>Astrocitos: sostén y nutrición</a:t>
            </a:r>
            <a:endParaRPr lang="en-US" sz="1188" dirty="0"/>
          </a:p>
        </p:txBody>
      </p:sp>
      <p:sp>
        <p:nvSpPr>
          <p:cNvPr id="9" name="Text 7"/>
          <p:cNvSpPr/>
          <p:nvPr/>
        </p:nvSpPr>
        <p:spPr>
          <a:xfrm>
            <a:off x="7699848" y="3596134"/>
            <a:ext cx="2436763" cy="246906"/>
          </a:xfrm>
          <a:prstGeom prst="rect">
            <a:avLst/>
          </a:prstGeom>
          <a:noFill/>
          <a:ln/>
        </p:spPr>
        <p:txBody>
          <a:bodyPr wrap="none" lIns="0" tIns="0" rIns="0" bIns="0" rtlCol="0" anchor="t"/>
          <a:lstStyle/>
          <a:p>
            <a:pPr marL="214313" indent="-214313">
              <a:lnSpc>
                <a:spcPts val="1938"/>
              </a:lnSpc>
              <a:buSzPct val="100000"/>
              <a:buChar char="•"/>
            </a:pPr>
            <a:r>
              <a:rPr lang="en-US" sz="1188" dirty="0">
                <a:solidFill>
                  <a:srgbClr val="DAD8E9"/>
                </a:solidFill>
                <a:latin typeface="Mukta Light" pitchFamily="34" charset="0"/>
                <a:ea typeface="Mukta Light" pitchFamily="34" charset="-122"/>
                <a:cs typeface="Mukta Light" pitchFamily="34" charset="-120"/>
              </a:rPr>
              <a:t>Oligodendrocitos: mielina en SNC</a:t>
            </a:r>
            <a:endParaRPr lang="en-US" sz="1188" dirty="0"/>
          </a:p>
        </p:txBody>
      </p:sp>
      <p:sp>
        <p:nvSpPr>
          <p:cNvPr id="10" name="Text 8"/>
          <p:cNvSpPr/>
          <p:nvPr/>
        </p:nvSpPr>
        <p:spPr>
          <a:xfrm>
            <a:off x="7699848" y="3896990"/>
            <a:ext cx="2436763" cy="246906"/>
          </a:xfrm>
          <a:prstGeom prst="rect">
            <a:avLst/>
          </a:prstGeom>
          <a:noFill/>
          <a:ln/>
        </p:spPr>
        <p:txBody>
          <a:bodyPr wrap="none" lIns="0" tIns="0" rIns="0" bIns="0" rtlCol="0" anchor="t"/>
          <a:lstStyle/>
          <a:p>
            <a:pPr marL="214313" indent="-214313">
              <a:lnSpc>
                <a:spcPts val="1938"/>
              </a:lnSpc>
              <a:buSzPct val="100000"/>
              <a:buChar char="•"/>
            </a:pPr>
            <a:r>
              <a:rPr lang="en-US" sz="1188" dirty="0">
                <a:solidFill>
                  <a:srgbClr val="DAD8E9"/>
                </a:solidFill>
                <a:latin typeface="Mukta Light" pitchFamily="34" charset="0"/>
                <a:ea typeface="Mukta Light" pitchFamily="34" charset="-122"/>
                <a:cs typeface="Mukta Light" pitchFamily="34" charset="-120"/>
              </a:rPr>
              <a:t>Microglía: defensa inmune</a:t>
            </a:r>
            <a:endParaRPr lang="en-US" sz="1188" dirty="0"/>
          </a:p>
        </p:txBody>
      </p:sp>
      <p:sp>
        <p:nvSpPr>
          <p:cNvPr id="11" name="Text 9"/>
          <p:cNvSpPr/>
          <p:nvPr/>
        </p:nvSpPr>
        <p:spPr>
          <a:xfrm>
            <a:off x="7699848" y="4197847"/>
            <a:ext cx="2436763" cy="493812"/>
          </a:xfrm>
          <a:prstGeom prst="rect">
            <a:avLst/>
          </a:prstGeom>
          <a:noFill/>
          <a:ln/>
        </p:spPr>
        <p:txBody>
          <a:bodyPr wrap="square" lIns="0" tIns="0" rIns="0" bIns="0" rtlCol="0" anchor="t"/>
          <a:lstStyle/>
          <a:p>
            <a:pPr marL="214313" indent="-214313">
              <a:lnSpc>
                <a:spcPts val="1938"/>
              </a:lnSpc>
              <a:buSzPct val="100000"/>
              <a:buChar char="•"/>
            </a:pPr>
            <a:r>
              <a:rPr lang="en-US" sz="1188" dirty="0">
                <a:solidFill>
                  <a:srgbClr val="DAD8E9"/>
                </a:solidFill>
                <a:latin typeface="Mukta Light" pitchFamily="34" charset="0"/>
                <a:ea typeface="Mukta Light" pitchFamily="34" charset="-122"/>
                <a:cs typeface="Mukta Light" pitchFamily="34" charset="-120"/>
              </a:rPr>
              <a:t>Ependimarias: producen líquido cefalorraquídeo</a:t>
            </a:r>
            <a:endParaRPr lang="en-US" sz="1188" dirty="0"/>
          </a:p>
        </p:txBody>
      </p:sp>
      <p:pic>
        <p:nvPicPr>
          <p:cNvPr id="12" name="Imagen 9">
            <a:extLst>
              <a:ext uri="{FF2B5EF4-FFF2-40B4-BE49-F238E27FC236}">
                <a16:creationId xmlns:a16="http://schemas.microsoft.com/office/drawing/2014/main" id="{46626FCB-0B52-03B1-1975-43B94896540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293900"/>
            <a:ext cx="2238375" cy="452438"/>
          </a:xfrm>
          <a:prstGeom prst="rect">
            <a:avLst/>
          </a:prstGeom>
          <a:solidFill>
            <a:schemeClr val="bg1"/>
          </a:solidFill>
          <a:ln>
            <a:noFill/>
          </a:ln>
        </p:spPr>
      </p:pic>
    </p:spTree>
    <p:extLst>
      <p:ext uri="{BB962C8B-B14F-4D97-AF65-F5344CB8AC3E}">
        <p14:creationId xmlns:p14="http://schemas.microsoft.com/office/powerpoint/2010/main" val="3929055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2672DD05-2A11-E429-3919-3C8FFCC52C4B}"/>
              </a:ext>
            </a:extLst>
          </p:cNvPr>
          <p:cNvSpPr/>
          <p:nvPr/>
        </p:nvSpPr>
        <p:spPr>
          <a:xfrm>
            <a:off x="2344761" y="1412681"/>
            <a:ext cx="1714500" cy="214313"/>
          </a:xfrm>
          <a:prstGeom prst="rect">
            <a:avLst/>
          </a:prstGeom>
          <a:noFill/>
          <a:ln/>
        </p:spPr>
        <p:txBody>
          <a:bodyPr wrap="none" lIns="0" tIns="0" rIns="0" bIns="0" rtlCol="0" anchor="t"/>
          <a:lstStyle/>
          <a:p>
            <a:pPr>
              <a:lnSpc>
                <a:spcPts val="1688"/>
              </a:lnSpc>
            </a:pPr>
            <a:r>
              <a:rPr lang="en-US" sz="3000" dirty="0">
                <a:solidFill>
                  <a:srgbClr val="C6BFEE"/>
                </a:solidFill>
                <a:latin typeface="Prompt Medium" pitchFamily="34" charset="0"/>
                <a:ea typeface="Prompt Medium" pitchFamily="34" charset="-122"/>
                <a:cs typeface="Prompt Medium" pitchFamily="34" charset="-120"/>
              </a:rPr>
              <a:t>Neurona</a:t>
            </a:r>
            <a:endParaRPr lang="en-US" sz="3000" dirty="0"/>
          </a:p>
        </p:txBody>
      </p:sp>
      <p:pic>
        <p:nvPicPr>
          <p:cNvPr id="2052" name="Picture 4" descr="Capítulo 10 Redes Neuronales Artificiales y Aprendizaje Profundo | Ciencia  de Datos para Ciencias Naturales">
            <a:extLst>
              <a:ext uri="{FF2B5EF4-FFF2-40B4-BE49-F238E27FC236}">
                <a16:creationId xmlns:a16="http://schemas.microsoft.com/office/drawing/2014/main" id="{2BB29E7F-AC89-6FC4-D8FD-AA1DF8A25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635" y="1899988"/>
            <a:ext cx="8151129" cy="3449053"/>
          </a:xfrm>
          <a:prstGeom prst="rect">
            <a:avLst/>
          </a:prstGeom>
          <a:solidFill>
            <a:schemeClr val="bg1"/>
          </a:solidFill>
          <a:ln>
            <a:solidFill>
              <a:schemeClr val="bg1"/>
            </a:solidFill>
          </a:ln>
        </p:spPr>
      </p:pic>
      <p:pic>
        <p:nvPicPr>
          <p:cNvPr id="4" name="Imagen 9">
            <a:extLst>
              <a:ext uri="{FF2B5EF4-FFF2-40B4-BE49-F238E27FC236}">
                <a16:creationId xmlns:a16="http://schemas.microsoft.com/office/drawing/2014/main" id="{B3F7E40B-57F7-F53D-E81C-57E9BBABA8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3177115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1A89262-2F79-2B8E-178D-35DAF5619253}"/>
              </a:ext>
            </a:extLst>
          </p:cNvPr>
          <p:cNvPicPr>
            <a:picLocks noChangeAspect="1"/>
          </p:cNvPicPr>
          <p:nvPr/>
        </p:nvPicPr>
        <p:blipFill>
          <a:blip r:embed="rId2"/>
          <a:stretch>
            <a:fillRect/>
          </a:stretch>
        </p:blipFill>
        <p:spPr>
          <a:xfrm>
            <a:off x="2245896" y="1497055"/>
            <a:ext cx="6958263" cy="3069933"/>
          </a:xfrm>
          <a:prstGeom prst="rect">
            <a:avLst/>
          </a:prstGeom>
        </p:spPr>
      </p:pic>
      <p:sp>
        <p:nvSpPr>
          <p:cNvPr id="5" name="CuadroTexto 4">
            <a:extLst>
              <a:ext uri="{FF2B5EF4-FFF2-40B4-BE49-F238E27FC236}">
                <a16:creationId xmlns:a16="http://schemas.microsoft.com/office/drawing/2014/main" id="{D304EEE6-E995-0F69-F6FB-A6C42753C992}"/>
              </a:ext>
            </a:extLst>
          </p:cNvPr>
          <p:cNvSpPr txBox="1"/>
          <p:nvPr/>
        </p:nvSpPr>
        <p:spPr>
          <a:xfrm>
            <a:off x="1955133" y="4927821"/>
            <a:ext cx="7038473" cy="438582"/>
          </a:xfrm>
          <a:prstGeom prst="rect">
            <a:avLst/>
          </a:prstGeom>
          <a:noFill/>
        </p:spPr>
        <p:txBody>
          <a:bodyPr wrap="square">
            <a:spAutoFit/>
          </a:bodyPr>
          <a:lstStyle/>
          <a:p>
            <a:r>
              <a:rPr lang="es-PA" sz="2250" dirty="0">
                <a:solidFill>
                  <a:schemeClr val="tx2">
                    <a:lumMod val="20000"/>
                    <a:lumOff val="80000"/>
                  </a:schemeClr>
                </a:solidFill>
              </a:rPr>
              <a:t>https://www.youtube.com/watch?v=ztxZrdF6gJQ</a:t>
            </a:r>
          </a:p>
        </p:txBody>
      </p:sp>
      <p:pic>
        <p:nvPicPr>
          <p:cNvPr id="2" name="Imagen 9">
            <a:extLst>
              <a:ext uri="{FF2B5EF4-FFF2-40B4-BE49-F238E27FC236}">
                <a16:creationId xmlns:a16="http://schemas.microsoft.com/office/drawing/2014/main" id="{188B2FE6-4127-6F28-BB2B-3F3683D29E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42872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524000" y="857250"/>
            <a:ext cx="9144000" cy="1808262"/>
          </a:xfrm>
          <a:prstGeom prst="rect">
            <a:avLst/>
          </a:prstGeom>
        </p:spPr>
      </p:pic>
      <p:sp>
        <p:nvSpPr>
          <p:cNvPr id="3" name="Text 0"/>
          <p:cNvSpPr/>
          <p:nvPr/>
        </p:nvSpPr>
        <p:spPr>
          <a:xfrm>
            <a:off x="2030314" y="3178299"/>
            <a:ext cx="5638949" cy="401836"/>
          </a:xfrm>
          <a:prstGeom prst="rect">
            <a:avLst/>
          </a:prstGeom>
          <a:noFill/>
          <a:ln/>
        </p:spPr>
        <p:txBody>
          <a:bodyPr wrap="none" lIns="0" tIns="0" rIns="0" bIns="0" rtlCol="0" anchor="t"/>
          <a:lstStyle/>
          <a:p>
            <a:pPr>
              <a:lnSpc>
                <a:spcPts val="3156"/>
              </a:lnSpc>
            </a:pPr>
            <a:r>
              <a:rPr lang="en-US" sz="2531" dirty="0">
                <a:solidFill>
                  <a:srgbClr val="C6BFEE"/>
                </a:solidFill>
                <a:latin typeface="Prompt Medium" pitchFamily="34" charset="0"/>
                <a:ea typeface="Prompt Medium" pitchFamily="34" charset="-122"/>
                <a:cs typeface="Prompt Medium" pitchFamily="34" charset="-120"/>
              </a:rPr>
              <a:t>Regiones y Estructuras del Encéfalo</a:t>
            </a:r>
            <a:endParaRPr lang="en-US" sz="2531" dirty="0"/>
          </a:p>
        </p:txBody>
      </p:sp>
      <p:pic>
        <p:nvPicPr>
          <p:cNvPr id="4" name="Image 1" descr="preencoded.png"/>
          <p:cNvPicPr>
            <a:picLocks noChangeAspect="1"/>
          </p:cNvPicPr>
          <p:nvPr/>
        </p:nvPicPr>
        <p:blipFill>
          <a:blip r:embed="rId4"/>
          <a:stretch>
            <a:fillRect/>
          </a:stretch>
        </p:blipFill>
        <p:spPr>
          <a:xfrm>
            <a:off x="2030314" y="3797126"/>
            <a:ext cx="2710458" cy="578644"/>
          </a:xfrm>
          <a:prstGeom prst="rect">
            <a:avLst/>
          </a:prstGeom>
        </p:spPr>
      </p:pic>
      <p:sp>
        <p:nvSpPr>
          <p:cNvPr id="5" name="Text 1"/>
          <p:cNvSpPr/>
          <p:nvPr/>
        </p:nvSpPr>
        <p:spPr>
          <a:xfrm>
            <a:off x="2174974" y="4592762"/>
            <a:ext cx="1607344" cy="200918"/>
          </a:xfrm>
          <a:prstGeom prst="rect">
            <a:avLst/>
          </a:prstGeom>
          <a:noFill/>
          <a:ln/>
        </p:spPr>
        <p:txBody>
          <a:bodyPr wrap="none" lIns="0" tIns="0" rIns="0" bIns="0" rtlCol="0" anchor="t"/>
          <a:lstStyle/>
          <a:p>
            <a:pPr>
              <a:lnSpc>
                <a:spcPts val="1563"/>
              </a:lnSpc>
            </a:pPr>
            <a:r>
              <a:rPr lang="en-US" sz="1250" dirty="0">
                <a:solidFill>
                  <a:srgbClr val="DAD8E9"/>
                </a:solidFill>
                <a:latin typeface="Prompt Medium" pitchFamily="34" charset="0"/>
                <a:ea typeface="Prompt Medium" pitchFamily="34" charset="-122"/>
                <a:cs typeface="Prompt Medium" pitchFamily="34" charset="-120"/>
              </a:rPr>
              <a:t>Lóbulos Cerebrales</a:t>
            </a:r>
            <a:endParaRPr lang="en-US" sz="1250" dirty="0"/>
          </a:p>
        </p:txBody>
      </p:sp>
      <p:sp>
        <p:nvSpPr>
          <p:cNvPr id="6" name="Text 2"/>
          <p:cNvSpPr/>
          <p:nvPr/>
        </p:nvSpPr>
        <p:spPr>
          <a:xfrm>
            <a:off x="2174975" y="4880446"/>
            <a:ext cx="2421136" cy="462856"/>
          </a:xfrm>
          <a:prstGeom prst="rect">
            <a:avLst/>
          </a:prstGeom>
          <a:noFill/>
          <a:ln/>
        </p:spPr>
        <p:txBody>
          <a:bodyPr wrap="square" lIns="0" tIns="0" rIns="0" bIns="0" rtlCol="0" anchor="t"/>
          <a:lstStyle/>
          <a:p>
            <a:pPr>
              <a:lnSpc>
                <a:spcPts val="1813"/>
              </a:lnSpc>
            </a:pPr>
            <a:r>
              <a:rPr lang="en-US" sz="1125" dirty="0">
                <a:solidFill>
                  <a:srgbClr val="DAD8E9"/>
                </a:solidFill>
                <a:latin typeface="Mukta Light" pitchFamily="34" charset="0"/>
                <a:ea typeface="Mukta Light" pitchFamily="34" charset="-122"/>
                <a:cs typeface="Mukta Light" pitchFamily="34" charset="-120"/>
              </a:rPr>
              <a:t>Frontal, parietal, temporal y occipital, cada uno con roles específicos.</a:t>
            </a:r>
            <a:endParaRPr lang="en-US" sz="1125" dirty="0"/>
          </a:p>
        </p:txBody>
      </p:sp>
      <p:pic>
        <p:nvPicPr>
          <p:cNvPr id="7" name="Image 2" descr="preencoded.png"/>
          <p:cNvPicPr>
            <a:picLocks noChangeAspect="1"/>
          </p:cNvPicPr>
          <p:nvPr/>
        </p:nvPicPr>
        <p:blipFill>
          <a:blip r:embed="rId5"/>
          <a:stretch>
            <a:fillRect/>
          </a:stretch>
        </p:blipFill>
        <p:spPr>
          <a:xfrm>
            <a:off x="4740772" y="3797126"/>
            <a:ext cx="2710458" cy="578644"/>
          </a:xfrm>
          <a:prstGeom prst="rect">
            <a:avLst/>
          </a:prstGeom>
        </p:spPr>
      </p:pic>
      <p:sp>
        <p:nvSpPr>
          <p:cNvPr id="8" name="Text 3"/>
          <p:cNvSpPr/>
          <p:nvPr/>
        </p:nvSpPr>
        <p:spPr>
          <a:xfrm>
            <a:off x="4885433" y="4592762"/>
            <a:ext cx="1973089" cy="200918"/>
          </a:xfrm>
          <a:prstGeom prst="rect">
            <a:avLst/>
          </a:prstGeom>
          <a:noFill/>
          <a:ln/>
        </p:spPr>
        <p:txBody>
          <a:bodyPr wrap="none" lIns="0" tIns="0" rIns="0" bIns="0" rtlCol="0" anchor="t"/>
          <a:lstStyle/>
          <a:p>
            <a:pPr>
              <a:lnSpc>
                <a:spcPts val="1563"/>
              </a:lnSpc>
            </a:pPr>
            <a:r>
              <a:rPr lang="en-US" sz="1250" dirty="0">
                <a:solidFill>
                  <a:srgbClr val="DAD8E9"/>
                </a:solidFill>
                <a:latin typeface="Prompt Medium" pitchFamily="34" charset="0"/>
                <a:ea typeface="Prompt Medium" pitchFamily="34" charset="-122"/>
                <a:cs typeface="Prompt Medium" pitchFamily="34" charset="-120"/>
              </a:rPr>
              <a:t>Estructuras Subcorticales</a:t>
            </a:r>
            <a:endParaRPr lang="en-US" sz="1250" dirty="0"/>
          </a:p>
        </p:txBody>
      </p:sp>
      <p:sp>
        <p:nvSpPr>
          <p:cNvPr id="9" name="Text 4"/>
          <p:cNvSpPr/>
          <p:nvPr/>
        </p:nvSpPr>
        <p:spPr>
          <a:xfrm>
            <a:off x="4885432" y="4880446"/>
            <a:ext cx="2421136" cy="462856"/>
          </a:xfrm>
          <a:prstGeom prst="rect">
            <a:avLst/>
          </a:prstGeom>
          <a:noFill/>
          <a:ln/>
        </p:spPr>
        <p:txBody>
          <a:bodyPr wrap="square" lIns="0" tIns="0" rIns="0" bIns="0" rtlCol="0" anchor="t"/>
          <a:lstStyle/>
          <a:p>
            <a:pPr>
              <a:lnSpc>
                <a:spcPts val="1813"/>
              </a:lnSpc>
            </a:pPr>
            <a:r>
              <a:rPr lang="en-US" sz="1125" dirty="0">
                <a:solidFill>
                  <a:srgbClr val="DAD8E9"/>
                </a:solidFill>
                <a:latin typeface="Mukta Light" pitchFamily="34" charset="0"/>
                <a:ea typeface="Mukta Light" pitchFamily="34" charset="-122"/>
                <a:cs typeface="Mukta Light" pitchFamily="34" charset="-120"/>
              </a:rPr>
              <a:t>Tálamo, hipotálamo y ganglios basales, centrales para funciones automáticas.</a:t>
            </a:r>
            <a:endParaRPr lang="en-US" sz="1125" dirty="0"/>
          </a:p>
        </p:txBody>
      </p:sp>
      <p:pic>
        <p:nvPicPr>
          <p:cNvPr id="10" name="Image 3" descr="preencoded.png"/>
          <p:cNvPicPr>
            <a:picLocks noChangeAspect="1"/>
          </p:cNvPicPr>
          <p:nvPr/>
        </p:nvPicPr>
        <p:blipFill>
          <a:blip r:embed="rId6"/>
          <a:stretch>
            <a:fillRect/>
          </a:stretch>
        </p:blipFill>
        <p:spPr>
          <a:xfrm>
            <a:off x="7451229" y="3797126"/>
            <a:ext cx="2710458" cy="578644"/>
          </a:xfrm>
          <a:prstGeom prst="rect">
            <a:avLst/>
          </a:prstGeom>
        </p:spPr>
      </p:pic>
      <p:sp>
        <p:nvSpPr>
          <p:cNvPr id="11" name="Text 5"/>
          <p:cNvSpPr/>
          <p:nvPr/>
        </p:nvSpPr>
        <p:spPr>
          <a:xfrm>
            <a:off x="7595890" y="4592762"/>
            <a:ext cx="1607344" cy="200918"/>
          </a:xfrm>
          <a:prstGeom prst="rect">
            <a:avLst/>
          </a:prstGeom>
          <a:noFill/>
          <a:ln/>
        </p:spPr>
        <p:txBody>
          <a:bodyPr wrap="none" lIns="0" tIns="0" rIns="0" bIns="0" rtlCol="0" anchor="t"/>
          <a:lstStyle/>
          <a:p>
            <a:pPr>
              <a:lnSpc>
                <a:spcPts val="1563"/>
              </a:lnSpc>
            </a:pPr>
            <a:r>
              <a:rPr lang="en-US" sz="1250" dirty="0">
                <a:solidFill>
                  <a:srgbClr val="DAD8E9"/>
                </a:solidFill>
                <a:latin typeface="Prompt Medium" pitchFamily="34" charset="0"/>
                <a:ea typeface="Prompt Medium" pitchFamily="34" charset="-122"/>
                <a:cs typeface="Prompt Medium" pitchFamily="34" charset="-120"/>
              </a:rPr>
              <a:t>Otras Regiones</a:t>
            </a:r>
            <a:endParaRPr lang="en-US" sz="1250" dirty="0"/>
          </a:p>
        </p:txBody>
      </p:sp>
      <p:sp>
        <p:nvSpPr>
          <p:cNvPr id="12" name="Text 6"/>
          <p:cNvSpPr/>
          <p:nvPr/>
        </p:nvSpPr>
        <p:spPr>
          <a:xfrm>
            <a:off x="7595890" y="4880446"/>
            <a:ext cx="2421136" cy="462856"/>
          </a:xfrm>
          <a:prstGeom prst="rect">
            <a:avLst/>
          </a:prstGeom>
          <a:noFill/>
          <a:ln/>
        </p:spPr>
        <p:txBody>
          <a:bodyPr wrap="square" lIns="0" tIns="0" rIns="0" bIns="0" rtlCol="0" anchor="t"/>
          <a:lstStyle/>
          <a:p>
            <a:pPr>
              <a:lnSpc>
                <a:spcPts val="1813"/>
              </a:lnSpc>
            </a:pPr>
            <a:r>
              <a:rPr lang="en-US" sz="1125" dirty="0">
                <a:solidFill>
                  <a:srgbClr val="DAD8E9"/>
                </a:solidFill>
                <a:latin typeface="Mukta Light" pitchFamily="34" charset="0"/>
                <a:ea typeface="Mukta Light" pitchFamily="34" charset="-122"/>
                <a:cs typeface="Mukta Light" pitchFamily="34" charset="-120"/>
              </a:rPr>
              <a:t>Tronco encefálico y cerebelo coordinan funciones motoras y vitales.</a:t>
            </a:r>
            <a:endParaRPr lang="en-US" sz="1125" dirty="0"/>
          </a:p>
        </p:txBody>
      </p:sp>
      <p:pic>
        <p:nvPicPr>
          <p:cNvPr id="13" name="Imagen 9">
            <a:extLst>
              <a:ext uri="{FF2B5EF4-FFF2-40B4-BE49-F238E27FC236}">
                <a16:creationId xmlns:a16="http://schemas.microsoft.com/office/drawing/2014/main" id="{47DF6BDA-E345-7141-345A-F7141CF068C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429626" y="5548312"/>
            <a:ext cx="2238375" cy="452438"/>
          </a:xfrm>
          <a:prstGeom prst="rect">
            <a:avLst/>
          </a:prstGeom>
          <a:solidFill>
            <a:schemeClr val="bg1"/>
          </a:solidFill>
          <a:ln>
            <a:noFill/>
          </a:ln>
        </p:spPr>
      </p:pic>
    </p:spTree>
    <p:extLst>
      <p:ext uri="{BB962C8B-B14F-4D97-AF65-F5344CB8AC3E}">
        <p14:creationId xmlns:p14="http://schemas.microsoft.com/office/powerpoint/2010/main" val="3538833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9145FAC-CB14-D89E-5207-CB64E0C3B482}"/>
              </a:ext>
            </a:extLst>
          </p:cNvPr>
          <p:cNvSpPr txBox="1"/>
          <p:nvPr/>
        </p:nvSpPr>
        <p:spPr>
          <a:xfrm>
            <a:off x="2205790" y="4910558"/>
            <a:ext cx="6998368" cy="438582"/>
          </a:xfrm>
          <a:prstGeom prst="rect">
            <a:avLst/>
          </a:prstGeom>
          <a:noFill/>
        </p:spPr>
        <p:txBody>
          <a:bodyPr wrap="square">
            <a:spAutoFit/>
          </a:bodyPr>
          <a:lstStyle/>
          <a:p>
            <a:r>
              <a:rPr lang="es-PA" sz="2250" dirty="0">
                <a:solidFill>
                  <a:schemeClr val="tx2">
                    <a:lumMod val="20000"/>
                    <a:lumOff val="80000"/>
                  </a:schemeClr>
                </a:solidFill>
              </a:rPr>
              <a:t>https://www.youtube.com/watch?v=30HGX2OSG3Q</a:t>
            </a:r>
          </a:p>
        </p:txBody>
      </p:sp>
      <p:pic>
        <p:nvPicPr>
          <p:cNvPr id="5" name="Imagen 4">
            <a:extLst>
              <a:ext uri="{FF2B5EF4-FFF2-40B4-BE49-F238E27FC236}">
                <a16:creationId xmlns:a16="http://schemas.microsoft.com/office/drawing/2014/main" id="{40D9E90E-E569-3F31-A3F1-27B77F99B8C3}"/>
              </a:ext>
            </a:extLst>
          </p:cNvPr>
          <p:cNvPicPr>
            <a:picLocks noChangeAspect="1"/>
          </p:cNvPicPr>
          <p:nvPr/>
        </p:nvPicPr>
        <p:blipFill>
          <a:blip r:embed="rId2"/>
          <a:stretch>
            <a:fillRect/>
          </a:stretch>
        </p:blipFill>
        <p:spPr>
          <a:xfrm>
            <a:off x="2380937" y="1317364"/>
            <a:ext cx="7244326" cy="3089203"/>
          </a:xfrm>
          <a:prstGeom prst="rect">
            <a:avLst/>
          </a:prstGeom>
        </p:spPr>
      </p:pic>
      <p:pic>
        <p:nvPicPr>
          <p:cNvPr id="6" name="Imagen 9">
            <a:extLst>
              <a:ext uri="{FF2B5EF4-FFF2-40B4-BE49-F238E27FC236}">
                <a16:creationId xmlns:a16="http://schemas.microsoft.com/office/drawing/2014/main" id="{BCAA773C-058C-CA1B-0D67-E9DCDA3DFA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1653409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978457-C859-A104-836E-34B5ED25722B}"/>
              </a:ext>
            </a:extLst>
          </p:cNvPr>
          <p:cNvSpPr>
            <a:spLocks noGrp="1"/>
          </p:cNvSpPr>
          <p:nvPr>
            <p:ph type="title"/>
          </p:nvPr>
        </p:nvSpPr>
        <p:spPr>
          <a:xfrm>
            <a:off x="1886008" y="2989384"/>
            <a:ext cx="9997440" cy="1143000"/>
          </a:xfrm>
        </p:spPr>
        <p:txBody>
          <a:bodyPr>
            <a:normAutofit fontScale="90000"/>
          </a:bodyPr>
          <a:lstStyle/>
          <a:p>
            <a:r>
              <a:rPr lang="es-ES" sz="7300" spc="0" dirty="0">
                <a:effectLst/>
                <a:latin typeface="ADLaM Display" panose="02010000000000000000" pitchFamily="2" charset="0"/>
                <a:ea typeface="ADLaM Display" panose="02010000000000000000" pitchFamily="2" charset="0"/>
                <a:cs typeface="ADLaM Display" panose="02010000000000000000" pitchFamily="2" charset="0"/>
              </a:rPr>
              <a:t>El</a:t>
            </a:r>
            <a:r>
              <a:rPr lang="es-ES" sz="7300" spc="-35" dirty="0">
                <a:effectLst/>
                <a:latin typeface="ADLaM Display" panose="02010000000000000000" pitchFamily="2" charset="0"/>
                <a:ea typeface="ADLaM Display" panose="02010000000000000000" pitchFamily="2" charset="0"/>
                <a:cs typeface="ADLaM Display" panose="02010000000000000000" pitchFamily="2" charset="0"/>
              </a:rPr>
              <a:t> </a:t>
            </a:r>
            <a:r>
              <a:rPr lang="es-ES" sz="7300" spc="0" dirty="0">
                <a:effectLst/>
                <a:latin typeface="ADLaM Display" panose="02010000000000000000" pitchFamily="2" charset="0"/>
                <a:ea typeface="ADLaM Display" panose="02010000000000000000" pitchFamily="2" charset="0"/>
                <a:cs typeface="ADLaM Display" panose="02010000000000000000" pitchFamily="2" charset="0"/>
              </a:rPr>
              <a:t>cerebro</a:t>
            </a:r>
            <a:r>
              <a:rPr lang="es-ES" sz="7300" spc="-35" dirty="0">
                <a:effectLst/>
                <a:latin typeface="ADLaM Display" panose="02010000000000000000" pitchFamily="2" charset="0"/>
                <a:ea typeface="ADLaM Display" panose="02010000000000000000" pitchFamily="2" charset="0"/>
                <a:cs typeface="ADLaM Display" panose="02010000000000000000" pitchFamily="2" charset="0"/>
              </a:rPr>
              <a:t> </a:t>
            </a:r>
            <a:r>
              <a:rPr lang="es-ES" sz="7300" spc="0" dirty="0">
                <a:effectLst/>
                <a:latin typeface="ADLaM Display" panose="02010000000000000000" pitchFamily="2" charset="0"/>
                <a:ea typeface="ADLaM Display" panose="02010000000000000000" pitchFamily="2" charset="0"/>
                <a:cs typeface="ADLaM Display" panose="02010000000000000000" pitchFamily="2" charset="0"/>
              </a:rPr>
              <a:t>y</a:t>
            </a:r>
            <a:r>
              <a:rPr lang="es-ES" sz="7300" spc="-35" dirty="0">
                <a:effectLst/>
                <a:latin typeface="ADLaM Display" panose="02010000000000000000" pitchFamily="2" charset="0"/>
                <a:ea typeface="ADLaM Display" panose="02010000000000000000" pitchFamily="2" charset="0"/>
                <a:cs typeface="ADLaM Display" panose="02010000000000000000" pitchFamily="2" charset="0"/>
              </a:rPr>
              <a:t> </a:t>
            </a:r>
            <a:r>
              <a:rPr lang="es-ES" sz="7300" spc="0" dirty="0">
                <a:effectLst/>
                <a:latin typeface="ADLaM Display" panose="02010000000000000000" pitchFamily="2" charset="0"/>
                <a:ea typeface="ADLaM Display" panose="02010000000000000000" pitchFamily="2" charset="0"/>
                <a:cs typeface="ADLaM Display" panose="02010000000000000000" pitchFamily="2" charset="0"/>
              </a:rPr>
              <a:t>su</a:t>
            </a:r>
            <a:r>
              <a:rPr lang="es-ES" sz="7300" spc="-35" dirty="0">
                <a:effectLst/>
                <a:latin typeface="ADLaM Display" panose="02010000000000000000" pitchFamily="2" charset="0"/>
                <a:ea typeface="ADLaM Display" panose="02010000000000000000" pitchFamily="2" charset="0"/>
                <a:cs typeface="ADLaM Display" panose="02010000000000000000" pitchFamily="2" charset="0"/>
              </a:rPr>
              <a:t> </a:t>
            </a:r>
            <a:r>
              <a:rPr lang="es-ES" sz="7300" spc="0" dirty="0">
                <a:effectLst/>
                <a:latin typeface="ADLaM Display" panose="02010000000000000000" pitchFamily="2" charset="0"/>
                <a:ea typeface="ADLaM Display" panose="02010000000000000000" pitchFamily="2" charset="0"/>
                <a:cs typeface="ADLaM Display" panose="02010000000000000000" pitchFamily="2" charset="0"/>
              </a:rPr>
              <a:t>funcionamiento</a:t>
            </a:r>
            <a:r>
              <a:rPr lang="es-ES" sz="7300" spc="-35" dirty="0">
                <a:effectLst/>
                <a:latin typeface="ADLaM Display" panose="02010000000000000000" pitchFamily="2" charset="0"/>
                <a:ea typeface="ADLaM Display" panose="02010000000000000000" pitchFamily="2" charset="0"/>
                <a:cs typeface="ADLaM Display" panose="02010000000000000000" pitchFamily="2" charset="0"/>
              </a:rPr>
              <a:t> </a:t>
            </a:r>
            <a:r>
              <a:rPr lang="es-ES" sz="7300" spc="0" dirty="0">
                <a:effectLst/>
                <a:latin typeface="ADLaM Display" panose="02010000000000000000" pitchFamily="2" charset="0"/>
                <a:ea typeface="ADLaM Display" panose="02010000000000000000" pitchFamily="2" charset="0"/>
                <a:cs typeface="ADLaM Display" panose="02010000000000000000" pitchFamily="2" charset="0"/>
              </a:rPr>
              <a:t>en</a:t>
            </a:r>
            <a:r>
              <a:rPr lang="es-ES" sz="7300" spc="-35" dirty="0">
                <a:effectLst/>
                <a:latin typeface="ADLaM Display" panose="02010000000000000000" pitchFamily="2" charset="0"/>
                <a:ea typeface="ADLaM Display" panose="02010000000000000000" pitchFamily="2" charset="0"/>
                <a:cs typeface="ADLaM Display" panose="02010000000000000000" pitchFamily="2" charset="0"/>
              </a:rPr>
              <a:t> </a:t>
            </a:r>
            <a:r>
              <a:rPr lang="es-ES" sz="7300" spc="0" dirty="0">
                <a:effectLst/>
                <a:latin typeface="ADLaM Display" panose="02010000000000000000" pitchFamily="2" charset="0"/>
                <a:ea typeface="ADLaM Display" panose="02010000000000000000" pitchFamily="2" charset="0"/>
                <a:cs typeface="ADLaM Display" panose="02010000000000000000" pitchFamily="2" charset="0"/>
              </a:rPr>
              <a:t>la edad infantil.</a:t>
            </a:r>
            <a:br>
              <a:rPr lang="es-PA" sz="4400" spc="0" dirty="0">
                <a:effectLst/>
                <a:latin typeface="Arial MT"/>
                <a:ea typeface="Arial MT"/>
                <a:cs typeface="Arial MT"/>
              </a:rPr>
            </a:br>
            <a:endParaRPr lang="es-PA" dirty="0"/>
          </a:p>
        </p:txBody>
      </p:sp>
      <p:pic>
        <p:nvPicPr>
          <p:cNvPr id="4" name="Imagen 9">
            <a:extLst>
              <a:ext uri="{FF2B5EF4-FFF2-40B4-BE49-F238E27FC236}">
                <a16:creationId xmlns:a16="http://schemas.microsoft.com/office/drawing/2014/main" id="{C55DE8B5-1647-84D6-2D6A-DAA609CB75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3224732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EB3C24-A70D-53F4-DAFF-02424F3F845E}"/>
              </a:ext>
            </a:extLst>
          </p:cNvPr>
          <p:cNvSpPr>
            <a:spLocks noGrp="1"/>
          </p:cNvSpPr>
          <p:nvPr>
            <p:ph type="title"/>
          </p:nvPr>
        </p:nvSpPr>
        <p:spPr>
          <a:xfrm>
            <a:off x="1928211" y="1090565"/>
            <a:ext cx="9997440" cy="1143000"/>
          </a:xfrm>
        </p:spPr>
        <p:txBody>
          <a:bodyPr>
            <a:normAutofit fontScale="90000"/>
          </a:bodyPr>
          <a:lstStyle/>
          <a:p>
            <a:r>
              <a:rPr lang="es-ES" b="1" dirty="0"/>
              <a:t>¿Cómo funciona en la infancia?</a:t>
            </a:r>
            <a:br>
              <a:rPr lang="es-ES" b="1" dirty="0"/>
            </a:br>
            <a:endParaRPr lang="es-PA" dirty="0"/>
          </a:p>
        </p:txBody>
      </p:sp>
      <p:sp>
        <p:nvSpPr>
          <p:cNvPr id="3" name="Marcador de texto 2">
            <a:extLst>
              <a:ext uri="{FF2B5EF4-FFF2-40B4-BE49-F238E27FC236}">
                <a16:creationId xmlns:a16="http://schemas.microsoft.com/office/drawing/2014/main" id="{AF956C65-0E72-A541-E58A-8FBB131FC29E}"/>
              </a:ext>
            </a:extLst>
          </p:cNvPr>
          <p:cNvSpPr>
            <a:spLocks noGrp="1"/>
          </p:cNvSpPr>
          <p:nvPr>
            <p:ph type="body" idx="1"/>
          </p:nvPr>
        </p:nvSpPr>
        <p:spPr>
          <a:xfrm>
            <a:off x="1928211" y="2057400"/>
            <a:ext cx="9997440" cy="4800600"/>
          </a:xfrm>
        </p:spPr>
        <p:txBody>
          <a:bodyPr/>
          <a:lstStyle/>
          <a:p>
            <a:pPr marL="137160" indent="0">
              <a:buNone/>
            </a:pPr>
            <a:r>
              <a:rPr lang="es-ES" b="1" dirty="0"/>
              <a:t>Alta plasticidad cerebral</a:t>
            </a:r>
          </a:p>
          <a:p>
            <a:pPr>
              <a:buFont typeface="Arial" panose="020B0604020202020204" pitchFamily="34" charset="0"/>
              <a:buChar char="•"/>
            </a:pPr>
            <a:r>
              <a:rPr lang="es-ES" dirty="0"/>
              <a:t>El cerebro del niño aprende rápidamente. </a:t>
            </a:r>
          </a:p>
          <a:p>
            <a:pPr>
              <a:buFont typeface="Arial" panose="020B0604020202020204" pitchFamily="34" charset="0"/>
              <a:buChar char="•"/>
            </a:pPr>
            <a:r>
              <a:rPr lang="es-ES" dirty="0"/>
              <a:t>Se adapta según las experiencias (familia, escuela, entorno). </a:t>
            </a:r>
          </a:p>
          <a:p>
            <a:pPr marL="137160" indent="0">
              <a:buNone/>
            </a:pPr>
            <a:endParaRPr lang="es-PA" dirty="0"/>
          </a:p>
        </p:txBody>
      </p:sp>
      <p:pic>
        <p:nvPicPr>
          <p:cNvPr id="4" name="Imagen 9">
            <a:extLst>
              <a:ext uri="{FF2B5EF4-FFF2-40B4-BE49-F238E27FC236}">
                <a16:creationId xmlns:a16="http://schemas.microsoft.com/office/drawing/2014/main" id="{06900BF8-E82D-56BD-ED51-314F770050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3508544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B4948-9D85-FFEE-F7B3-5365F2942793}"/>
              </a:ext>
            </a:extLst>
          </p:cNvPr>
          <p:cNvSpPr>
            <a:spLocks noGrp="1"/>
          </p:cNvSpPr>
          <p:nvPr>
            <p:ph type="title"/>
          </p:nvPr>
        </p:nvSpPr>
        <p:spPr>
          <a:xfrm>
            <a:off x="1815670" y="1511127"/>
            <a:ext cx="9997440" cy="1143000"/>
          </a:xfrm>
        </p:spPr>
        <p:txBody>
          <a:bodyPr>
            <a:normAutofit fontScale="90000"/>
          </a:bodyPr>
          <a:lstStyle/>
          <a:p>
            <a:r>
              <a:rPr lang="es-ES" b="1" dirty="0"/>
              <a:t>Formación de conexiones (sinapsis)</a:t>
            </a:r>
            <a:br>
              <a:rPr lang="es-ES" b="1" dirty="0"/>
            </a:br>
            <a:endParaRPr lang="es-PA" dirty="0"/>
          </a:p>
        </p:txBody>
      </p:sp>
      <p:sp>
        <p:nvSpPr>
          <p:cNvPr id="3" name="Marcador de texto 2">
            <a:extLst>
              <a:ext uri="{FF2B5EF4-FFF2-40B4-BE49-F238E27FC236}">
                <a16:creationId xmlns:a16="http://schemas.microsoft.com/office/drawing/2014/main" id="{51F1F333-281E-390D-D28B-1487892020BA}"/>
              </a:ext>
            </a:extLst>
          </p:cNvPr>
          <p:cNvSpPr>
            <a:spLocks noGrp="1"/>
          </p:cNvSpPr>
          <p:nvPr>
            <p:ph type="body" idx="1"/>
          </p:nvPr>
        </p:nvSpPr>
        <p:spPr>
          <a:xfrm>
            <a:off x="1660925" y="2640568"/>
            <a:ext cx="9997440" cy="4800600"/>
          </a:xfrm>
        </p:spPr>
        <p:txBody>
          <a:bodyPr/>
          <a:lstStyle/>
          <a:p>
            <a:pPr>
              <a:buFont typeface="Arial" panose="020B0604020202020204" pitchFamily="34" charset="0"/>
              <a:buChar char="•"/>
            </a:pPr>
            <a:r>
              <a:rPr lang="es-ES" dirty="0"/>
              <a:t>Se crean millones de conexiones entre neuronas. </a:t>
            </a:r>
          </a:p>
          <a:p>
            <a:pPr>
              <a:buFont typeface="Arial" panose="020B0604020202020204" pitchFamily="34" charset="0"/>
              <a:buChar char="•"/>
            </a:pPr>
            <a:r>
              <a:rPr lang="es-ES" dirty="0"/>
              <a:t>Cuanta más estimulación (juego, lenguaje, afecto), mayor desarrollo.</a:t>
            </a:r>
          </a:p>
          <a:p>
            <a:pPr marL="137160" indent="0">
              <a:buNone/>
            </a:pPr>
            <a:endParaRPr lang="es-PA" dirty="0"/>
          </a:p>
        </p:txBody>
      </p:sp>
      <p:sp>
        <p:nvSpPr>
          <p:cNvPr id="5" name="CuadroTexto 4">
            <a:extLst>
              <a:ext uri="{FF2B5EF4-FFF2-40B4-BE49-F238E27FC236}">
                <a16:creationId xmlns:a16="http://schemas.microsoft.com/office/drawing/2014/main" id="{EBA21163-FDFE-E51F-94EA-138523D82758}"/>
              </a:ext>
            </a:extLst>
          </p:cNvPr>
          <p:cNvSpPr txBox="1"/>
          <p:nvPr/>
        </p:nvSpPr>
        <p:spPr>
          <a:xfrm>
            <a:off x="2777667" y="4548499"/>
            <a:ext cx="6098344" cy="1323439"/>
          </a:xfrm>
          <a:prstGeom prst="rect">
            <a:avLst/>
          </a:prstGeom>
          <a:noFill/>
        </p:spPr>
        <p:txBody>
          <a:bodyPr wrap="square">
            <a:spAutoFit/>
          </a:bodyPr>
          <a:lstStyle/>
          <a:p>
            <a:r>
              <a:rPr lang="es-ES" sz="2000" b="1" dirty="0"/>
              <a:t>Poda sináptica</a:t>
            </a:r>
          </a:p>
          <a:p>
            <a:pPr>
              <a:buFont typeface="Arial" panose="020B0604020202020204" pitchFamily="34" charset="0"/>
              <a:buChar char="•"/>
            </a:pPr>
            <a:r>
              <a:rPr lang="es-ES" sz="2000" dirty="0"/>
              <a:t>El cerebro elimina conexiones que no se usan. </a:t>
            </a:r>
          </a:p>
          <a:p>
            <a:pPr>
              <a:buFont typeface="Arial" panose="020B0604020202020204" pitchFamily="34" charset="0"/>
              <a:buChar char="•"/>
            </a:pPr>
            <a:r>
              <a:rPr lang="es-ES" sz="2000" dirty="0"/>
              <a:t>Se fortalecen las más importantes (aprendizaje significativo). </a:t>
            </a:r>
          </a:p>
        </p:txBody>
      </p:sp>
      <p:pic>
        <p:nvPicPr>
          <p:cNvPr id="6" name="Imagen 9">
            <a:extLst>
              <a:ext uri="{FF2B5EF4-FFF2-40B4-BE49-F238E27FC236}">
                <a16:creationId xmlns:a16="http://schemas.microsoft.com/office/drawing/2014/main" id="{220D0495-2E10-5F61-25C2-9DF934A7C7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117098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09377-7F2B-B577-0597-CBB0E500DAA5}"/>
              </a:ext>
            </a:extLst>
          </p:cNvPr>
          <p:cNvSpPr>
            <a:spLocks noGrp="1"/>
          </p:cNvSpPr>
          <p:nvPr>
            <p:ph type="title"/>
          </p:nvPr>
        </p:nvSpPr>
        <p:spPr>
          <a:xfrm>
            <a:off x="1914144" y="1033462"/>
            <a:ext cx="9997440" cy="1143000"/>
          </a:xfrm>
        </p:spPr>
        <p:txBody>
          <a:bodyPr>
            <a:normAutofit fontScale="90000"/>
          </a:bodyPr>
          <a:lstStyle/>
          <a:p>
            <a:r>
              <a:rPr lang="es-ES" b="1" dirty="0"/>
              <a:t>Desarrollo por áreas</a:t>
            </a:r>
            <a:br>
              <a:rPr lang="es-ES" b="1" dirty="0"/>
            </a:br>
            <a:endParaRPr lang="es-PA" dirty="0"/>
          </a:p>
        </p:txBody>
      </p:sp>
      <p:sp>
        <p:nvSpPr>
          <p:cNvPr id="3" name="Marcador de texto 2">
            <a:extLst>
              <a:ext uri="{FF2B5EF4-FFF2-40B4-BE49-F238E27FC236}">
                <a16:creationId xmlns:a16="http://schemas.microsoft.com/office/drawing/2014/main" id="{E9B6A467-9154-0FAD-1C82-A7F0930010AA}"/>
              </a:ext>
            </a:extLst>
          </p:cNvPr>
          <p:cNvSpPr>
            <a:spLocks noGrp="1"/>
          </p:cNvSpPr>
          <p:nvPr>
            <p:ph type="body" idx="1"/>
          </p:nvPr>
        </p:nvSpPr>
        <p:spPr>
          <a:xfrm>
            <a:off x="1914144" y="1604962"/>
            <a:ext cx="9997440" cy="4800600"/>
          </a:xfrm>
        </p:spPr>
        <p:txBody>
          <a:bodyPr/>
          <a:lstStyle/>
          <a:p>
            <a:pPr>
              <a:buFont typeface="Arial" panose="020B0604020202020204" pitchFamily="34" charset="0"/>
              <a:buChar char="•"/>
            </a:pPr>
            <a:r>
              <a:rPr lang="es-ES" b="1" dirty="0"/>
              <a:t>Corteza prefrontal</a:t>
            </a:r>
            <a:r>
              <a:rPr lang="es-ES" dirty="0"/>
              <a:t>: control de impulsos, toma de decisiones (madura lentamente). </a:t>
            </a:r>
          </a:p>
          <a:p>
            <a:pPr>
              <a:buFont typeface="Arial" panose="020B0604020202020204" pitchFamily="34" charset="0"/>
              <a:buChar char="•"/>
            </a:pPr>
            <a:r>
              <a:rPr lang="es-ES" b="1" dirty="0"/>
              <a:t>Sistema límbico</a:t>
            </a:r>
            <a:r>
              <a:rPr lang="es-ES" dirty="0"/>
              <a:t>: emociones (muy activo en la infancia). </a:t>
            </a:r>
          </a:p>
          <a:p>
            <a:pPr>
              <a:buFont typeface="Arial" panose="020B0604020202020204" pitchFamily="34" charset="0"/>
              <a:buChar char="•"/>
            </a:pPr>
            <a:r>
              <a:rPr lang="es-ES" b="1" dirty="0"/>
              <a:t>Áreas sensoriales y motoras</a:t>
            </a:r>
            <a:r>
              <a:rPr lang="es-ES" dirty="0"/>
              <a:t>: se desarrollan primero. </a:t>
            </a:r>
          </a:p>
          <a:p>
            <a:pPr marL="137160" indent="0">
              <a:buNone/>
            </a:pPr>
            <a:endParaRPr lang="es-PA" dirty="0"/>
          </a:p>
        </p:txBody>
      </p:sp>
      <p:pic>
        <p:nvPicPr>
          <p:cNvPr id="4" name="Imagen 9">
            <a:extLst>
              <a:ext uri="{FF2B5EF4-FFF2-40B4-BE49-F238E27FC236}">
                <a16:creationId xmlns:a16="http://schemas.microsoft.com/office/drawing/2014/main" id="{085C4D14-DEB8-41BD-B9CB-C331157609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476842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85C11C-DE85-7F6C-3C6F-484678A43A17}"/>
              </a:ext>
            </a:extLst>
          </p:cNvPr>
          <p:cNvSpPr>
            <a:spLocks noGrp="1"/>
          </p:cNvSpPr>
          <p:nvPr>
            <p:ph type="title"/>
          </p:nvPr>
        </p:nvSpPr>
        <p:spPr>
          <a:xfrm>
            <a:off x="1787535" y="1064455"/>
            <a:ext cx="9997440" cy="1143000"/>
          </a:xfrm>
        </p:spPr>
        <p:txBody>
          <a:bodyPr>
            <a:normAutofit fontScale="90000"/>
          </a:bodyPr>
          <a:lstStyle/>
          <a:p>
            <a:r>
              <a:rPr lang="es-ES" b="1" dirty="0"/>
              <a:t>Características del funcionamiento infantil</a:t>
            </a:r>
            <a:br>
              <a:rPr lang="es-ES" b="1" dirty="0"/>
            </a:br>
            <a:endParaRPr lang="es-PA" dirty="0"/>
          </a:p>
        </p:txBody>
      </p:sp>
      <p:sp>
        <p:nvSpPr>
          <p:cNvPr id="3" name="Marcador de texto 2">
            <a:extLst>
              <a:ext uri="{FF2B5EF4-FFF2-40B4-BE49-F238E27FC236}">
                <a16:creationId xmlns:a16="http://schemas.microsoft.com/office/drawing/2014/main" id="{931FB1D8-239D-8968-DDB4-610D72EAF460}"/>
              </a:ext>
            </a:extLst>
          </p:cNvPr>
          <p:cNvSpPr>
            <a:spLocks noGrp="1"/>
          </p:cNvSpPr>
          <p:nvPr>
            <p:ph type="body" idx="1"/>
          </p:nvPr>
        </p:nvSpPr>
        <p:spPr>
          <a:xfrm>
            <a:off x="1787535" y="2207455"/>
            <a:ext cx="9997440" cy="4800600"/>
          </a:xfrm>
        </p:spPr>
        <p:txBody>
          <a:bodyPr/>
          <a:lstStyle/>
          <a:p>
            <a:pPr>
              <a:buFont typeface="Arial" panose="020B0604020202020204" pitchFamily="34" charset="0"/>
              <a:buChar char="•"/>
            </a:pPr>
            <a:r>
              <a:rPr lang="es-ES" dirty="0"/>
              <a:t>Predomina la </a:t>
            </a:r>
            <a:r>
              <a:rPr lang="es-ES" b="1" dirty="0"/>
              <a:t>emoción sobre la razón</a:t>
            </a:r>
            <a:r>
              <a:rPr lang="es-ES" dirty="0"/>
              <a:t>. </a:t>
            </a:r>
          </a:p>
          <a:p>
            <a:pPr>
              <a:buFont typeface="Arial" panose="020B0604020202020204" pitchFamily="34" charset="0"/>
              <a:buChar char="•"/>
            </a:pPr>
            <a:r>
              <a:rPr lang="es-ES" dirty="0"/>
              <a:t>Aprenden mejor mediante el </a:t>
            </a:r>
            <a:r>
              <a:rPr lang="es-ES" b="1" dirty="0"/>
              <a:t>juego y la experiencia</a:t>
            </a:r>
            <a:r>
              <a:rPr lang="es-ES" dirty="0"/>
              <a:t>. </a:t>
            </a:r>
          </a:p>
          <a:p>
            <a:pPr>
              <a:buFont typeface="Arial" panose="020B0604020202020204" pitchFamily="34" charset="0"/>
              <a:buChar char="•"/>
            </a:pPr>
            <a:r>
              <a:rPr lang="es-ES" dirty="0"/>
              <a:t>Necesitan </a:t>
            </a:r>
            <a:r>
              <a:rPr lang="es-ES" b="1" dirty="0"/>
              <a:t>afecto y seguridad</a:t>
            </a:r>
            <a:r>
              <a:rPr lang="es-ES" dirty="0"/>
              <a:t> para un desarrollo sano. </a:t>
            </a:r>
          </a:p>
          <a:p>
            <a:pPr>
              <a:buFont typeface="Arial" panose="020B0604020202020204" pitchFamily="34" charset="0"/>
              <a:buChar char="•"/>
            </a:pPr>
            <a:r>
              <a:rPr lang="es-ES" dirty="0"/>
              <a:t>El entorno influye directamente en su desarrollo cerebral.</a:t>
            </a:r>
          </a:p>
          <a:p>
            <a:pPr marL="137160" indent="0">
              <a:buNone/>
            </a:pPr>
            <a:endParaRPr lang="es-PA" dirty="0"/>
          </a:p>
        </p:txBody>
      </p:sp>
      <p:pic>
        <p:nvPicPr>
          <p:cNvPr id="4" name="Imagen 9">
            <a:extLst>
              <a:ext uri="{FF2B5EF4-FFF2-40B4-BE49-F238E27FC236}">
                <a16:creationId xmlns:a16="http://schemas.microsoft.com/office/drawing/2014/main" id="{6309CF3D-98D0-92A5-36CC-DF3612C771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671621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14021-CF9B-BC6B-4DB6-F7D9B7A020C2}"/>
              </a:ext>
            </a:extLst>
          </p:cNvPr>
          <p:cNvSpPr>
            <a:spLocks noGrp="1"/>
          </p:cNvSpPr>
          <p:nvPr>
            <p:ph type="title"/>
          </p:nvPr>
        </p:nvSpPr>
        <p:spPr>
          <a:xfrm>
            <a:off x="1914144" y="914400"/>
            <a:ext cx="9997440" cy="1143000"/>
          </a:xfrm>
        </p:spPr>
        <p:txBody>
          <a:bodyPr/>
          <a:lstStyle/>
          <a:p>
            <a:r>
              <a:rPr lang="es-ES" dirty="0"/>
              <a:t>EL CEREBRO INFANTIL</a:t>
            </a:r>
            <a:endParaRPr lang="es-PA" dirty="0"/>
          </a:p>
        </p:txBody>
      </p:sp>
      <p:sp>
        <p:nvSpPr>
          <p:cNvPr id="3" name="Marcador de texto 2">
            <a:extLst>
              <a:ext uri="{FF2B5EF4-FFF2-40B4-BE49-F238E27FC236}">
                <a16:creationId xmlns:a16="http://schemas.microsoft.com/office/drawing/2014/main" id="{5F6A9953-E56D-63C5-10C4-48CD557BD839}"/>
              </a:ext>
            </a:extLst>
          </p:cNvPr>
          <p:cNvSpPr>
            <a:spLocks noGrp="1"/>
          </p:cNvSpPr>
          <p:nvPr>
            <p:ph type="body" idx="1"/>
          </p:nvPr>
        </p:nvSpPr>
        <p:spPr>
          <a:xfrm>
            <a:off x="1914144" y="2319997"/>
            <a:ext cx="9997440" cy="4800600"/>
          </a:xfrm>
        </p:spPr>
        <p:txBody>
          <a:bodyPr/>
          <a:lstStyle/>
          <a:p>
            <a:pPr marL="137160" indent="0">
              <a:buNone/>
            </a:pPr>
            <a:r>
              <a:rPr lang="es-ES" dirty="0"/>
              <a:t>El cerebro infantil no está “terminado”, se </a:t>
            </a:r>
            <a:r>
              <a:rPr lang="es-ES" b="1" dirty="0"/>
              <a:t>construye con la experiencia</a:t>
            </a:r>
            <a:r>
              <a:rPr lang="es-ES" dirty="0"/>
              <a:t>. Por eso, la estimulación, el vínculo afectivo y la educación son fundamentales.</a:t>
            </a:r>
            <a:endParaRPr lang="es-PA" dirty="0"/>
          </a:p>
        </p:txBody>
      </p:sp>
      <p:pic>
        <p:nvPicPr>
          <p:cNvPr id="4" name="Imagen 9">
            <a:extLst>
              <a:ext uri="{FF2B5EF4-FFF2-40B4-BE49-F238E27FC236}">
                <a16:creationId xmlns:a16="http://schemas.microsoft.com/office/drawing/2014/main" id="{E800A2E3-E47A-06F8-4CDE-3EB2CFD088B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1687009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B8B9A1-E4EF-506E-6738-233B570DDC5F}"/>
              </a:ext>
            </a:extLst>
          </p:cNvPr>
          <p:cNvSpPr>
            <a:spLocks noGrp="1"/>
          </p:cNvSpPr>
          <p:nvPr>
            <p:ph type="title"/>
          </p:nvPr>
        </p:nvSpPr>
        <p:spPr>
          <a:xfrm>
            <a:off x="1970415" y="3186650"/>
            <a:ext cx="9997440" cy="1143000"/>
          </a:xfrm>
        </p:spPr>
        <p:txBody>
          <a:bodyPr>
            <a:noAutofit/>
          </a:bodyPr>
          <a:lstStyle/>
          <a:p>
            <a:r>
              <a:rPr lang="es-ES" sz="6600" spc="0" dirty="0">
                <a:effectLst/>
                <a:latin typeface="Arial MT"/>
                <a:ea typeface="Arial MT"/>
                <a:cs typeface="Arial MT"/>
              </a:rPr>
              <a:t>Conceptos</a:t>
            </a:r>
            <a:r>
              <a:rPr lang="es-ES" sz="6600" spc="-65" dirty="0">
                <a:effectLst/>
                <a:latin typeface="Arial MT"/>
                <a:ea typeface="Arial MT"/>
                <a:cs typeface="Arial MT"/>
              </a:rPr>
              <a:t> </a:t>
            </a:r>
            <a:r>
              <a:rPr lang="es-ES" sz="6600" spc="0" dirty="0">
                <a:effectLst/>
                <a:latin typeface="Arial MT"/>
                <a:ea typeface="Arial MT"/>
                <a:cs typeface="Arial MT"/>
              </a:rPr>
              <a:t>y</a:t>
            </a:r>
            <a:r>
              <a:rPr lang="es-ES" sz="6600" spc="-65" dirty="0">
                <a:effectLst/>
                <a:latin typeface="Arial MT"/>
                <a:ea typeface="Arial MT"/>
                <a:cs typeface="Arial MT"/>
              </a:rPr>
              <a:t> </a:t>
            </a:r>
            <a:r>
              <a:rPr lang="es-ES" sz="6600" spc="0" dirty="0">
                <a:effectLst/>
                <a:latin typeface="Arial MT"/>
                <a:ea typeface="Arial MT"/>
                <a:cs typeface="Arial MT"/>
              </a:rPr>
              <a:t>definiciones</a:t>
            </a:r>
            <a:r>
              <a:rPr lang="es-ES" sz="6600" spc="-65" dirty="0">
                <a:effectLst/>
                <a:latin typeface="Arial MT"/>
                <a:ea typeface="Arial MT"/>
                <a:cs typeface="Arial MT"/>
              </a:rPr>
              <a:t> </a:t>
            </a:r>
            <a:r>
              <a:rPr lang="es-ES" sz="6600" spc="0" dirty="0">
                <a:effectLst/>
                <a:latin typeface="Arial MT"/>
                <a:ea typeface="Arial MT"/>
                <a:cs typeface="Arial MT"/>
              </a:rPr>
              <a:t>de psicopatología en niños y </a:t>
            </a:r>
            <a:r>
              <a:rPr lang="es-ES" sz="6600" spc="-10" dirty="0">
                <a:effectLst/>
                <a:latin typeface="Arial MT"/>
                <a:ea typeface="Arial MT"/>
                <a:cs typeface="Arial MT"/>
              </a:rPr>
              <a:t>adolescentes.</a:t>
            </a:r>
            <a:br>
              <a:rPr lang="es-PA" sz="6600" spc="0" dirty="0">
                <a:effectLst/>
                <a:latin typeface="Arial MT"/>
                <a:ea typeface="Arial MT"/>
                <a:cs typeface="Arial MT"/>
              </a:rPr>
            </a:br>
            <a:endParaRPr lang="es-PA" sz="6600" dirty="0"/>
          </a:p>
        </p:txBody>
      </p:sp>
    </p:spTree>
    <p:extLst>
      <p:ext uri="{BB962C8B-B14F-4D97-AF65-F5344CB8AC3E}">
        <p14:creationId xmlns:p14="http://schemas.microsoft.com/office/powerpoint/2010/main" val="3424248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EC099D-7CD8-8758-9866-BD78D9663C37}"/>
              </a:ext>
            </a:extLst>
          </p:cNvPr>
          <p:cNvSpPr>
            <a:spLocks noGrp="1"/>
          </p:cNvSpPr>
          <p:nvPr>
            <p:ph type="title"/>
          </p:nvPr>
        </p:nvSpPr>
        <p:spPr>
          <a:xfrm>
            <a:off x="1956347" y="914400"/>
            <a:ext cx="9997440" cy="1143000"/>
          </a:xfrm>
        </p:spPr>
        <p:txBody>
          <a:bodyPr>
            <a:normAutofit fontScale="90000"/>
          </a:bodyPr>
          <a:lstStyle/>
          <a:p>
            <a:r>
              <a:rPr lang="es-ES" b="1" dirty="0"/>
              <a:t>¿Qué es la psicopatología infantil y adolescente?</a:t>
            </a:r>
            <a:br>
              <a:rPr lang="es-ES" b="1" dirty="0"/>
            </a:br>
            <a:endParaRPr lang="es-PA" dirty="0"/>
          </a:p>
        </p:txBody>
      </p:sp>
      <p:sp>
        <p:nvSpPr>
          <p:cNvPr id="3" name="Marcador de texto 2">
            <a:extLst>
              <a:ext uri="{FF2B5EF4-FFF2-40B4-BE49-F238E27FC236}">
                <a16:creationId xmlns:a16="http://schemas.microsoft.com/office/drawing/2014/main" id="{0F4D3EF7-1AAB-445D-1FBF-0F760424D77D}"/>
              </a:ext>
            </a:extLst>
          </p:cNvPr>
          <p:cNvSpPr>
            <a:spLocks noGrp="1"/>
          </p:cNvSpPr>
          <p:nvPr>
            <p:ph type="body" idx="1"/>
          </p:nvPr>
        </p:nvSpPr>
        <p:spPr>
          <a:xfrm>
            <a:off x="1759400" y="2432538"/>
            <a:ext cx="9997440" cy="4800600"/>
          </a:xfrm>
        </p:spPr>
        <p:txBody>
          <a:bodyPr/>
          <a:lstStyle/>
          <a:p>
            <a:pPr marL="137160" indent="0">
              <a:buNone/>
            </a:pPr>
            <a:r>
              <a:rPr lang="es-ES" dirty="0"/>
              <a:t>Es el área de la psicología que estudia los </a:t>
            </a:r>
            <a:r>
              <a:rPr lang="es-ES" b="1" dirty="0"/>
              <a:t>trastornos emocionales, conductuales y del desarrollo</a:t>
            </a:r>
            <a:r>
              <a:rPr lang="es-ES" dirty="0"/>
              <a:t> que aparecen en la infancia y adolescencia, considerando la etapa evolutiva del menor.</a:t>
            </a:r>
          </a:p>
          <a:p>
            <a:endParaRPr lang="es-PA" dirty="0"/>
          </a:p>
        </p:txBody>
      </p:sp>
      <p:pic>
        <p:nvPicPr>
          <p:cNvPr id="4" name="Imagen 9">
            <a:extLst>
              <a:ext uri="{FF2B5EF4-FFF2-40B4-BE49-F238E27FC236}">
                <a16:creationId xmlns:a16="http://schemas.microsoft.com/office/drawing/2014/main" id="{89B5ED9D-0945-D4A1-E2B1-8B711C1B69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888439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EC099D-7CD8-8758-9866-BD78D9663C37}"/>
              </a:ext>
            </a:extLst>
          </p:cNvPr>
          <p:cNvSpPr>
            <a:spLocks noGrp="1"/>
          </p:cNvSpPr>
          <p:nvPr>
            <p:ph type="title"/>
          </p:nvPr>
        </p:nvSpPr>
        <p:spPr>
          <a:xfrm>
            <a:off x="1914144" y="908002"/>
            <a:ext cx="9997440" cy="1143000"/>
          </a:xfrm>
        </p:spPr>
        <p:txBody>
          <a:bodyPr>
            <a:normAutofit fontScale="90000"/>
          </a:bodyPr>
          <a:lstStyle/>
          <a:p>
            <a:r>
              <a:rPr lang="es-ES" b="1" dirty="0"/>
              <a:t>Principales trastornos en niños y adolescentes</a:t>
            </a:r>
            <a:br>
              <a:rPr lang="es-ES" b="1" dirty="0"/>
            </a:br>
            <a:endParaRPr lang="es-PA" dirty="0"/>
          </a:p>
        </p:txBody>
      </p:sp>
      <p:sp>
        <p:nvSpPr>
          <p:cNvPr id="3" name="Marcador de texto 2">
            <a:extLst>
              <a:ext uri="{FF2B5EF4-FFF2-40B4-BE49-F238E27FC236}">
                <a16:creationId xmlns:a16="http://schemas.microsoft.com/office/drawing/2014/main" id="{0F4D3EF7-1AAB-445D-1FBF-0F760424D77D}"/>
              </a:ext>
            </a:extLst>
          </p:cNvPr>
          <p:cNvSpPr>
            <a:spLocks noGrp="1"/>
          </p:cNvSpPr>
          <p:nvPr>
            <p:ph type="body" idx="1"/>
          </p:nvPr>
        </p:nvSpPr>
        <p:spPr>
          <a:xfrm>
            <a:off x="1914144" y="2054201"/>
            <a:ext cx="9997440" cy="4800600"/>
          </a:xfrm>
        </p:spPr>
        <p:txBody>
          <a:bodyPr/>
          <a:lstStyle/>
          <a:p>
            <a:pPr>
              <a:buFont typeface="Arial" panose="020B0604020202020204" pitchFamily="34" charset="0"/>
              <a:buChar char="•"/>
            </a:pPr>
            <a:r>
              <a:rPr lang="es-ES" dirty="0"/>
              <a:t>Trastornos del neurodesarrollo (ej. Trastorno del Espectro Autista, TDAH) </a:t>
            </a:r>
          </a:p>
          <a:p>
            <a:pPr>
              <a:buFont typeface="Arial" panose="020B0604020202020204" pitchFamily="34" charset="0"/>
              <a:buChar char="•"/>
            </a:pPr>
            <a:r>
              <a:rPr lang="es-ES" dirty="0"/>
              <a:t>Trastornos de ansiedad </a:t>
            </a:r>
          </a:p>
          <a:p>
            <a:pPr>
              <a:buFont typeface="Arial" panose="020B0604020202020204" pitchFamily="34" charset="0"/>
              <a:buChar char="•"/>
            </a:pPr>
            <a:r>
              <a:rPr lang="es-ES" dirty="0"/>
              <a:t>Depresión infantil </a:t>
            </a:r>
          </a:p>
          <a:p>
            <a:pPr>
              <a:buFont typeface="Arial" panose="020B0604020202020204" pitchFamily="34" charset="0"/>
              <a:buChar char="•"/>
            </a:pPr>
            <a:r>
              <a:rPr lang="es-ES" dirty="0"/>
              <a:t>Trastornos de conducta </a:t>
            </a:r>
          </a:p>
          <a:p>
            <a:pPr>
              <a:buFont typeface="Arial" panose="020B0604020202020204" pitchFamily="34" charset="0"/>
              <a:buChar char="•"/>
            </a:pPr>
            <a:r>
              <a:rPr lang="es-ES" dirty="0"/>
              <a:t>Trastornos del aprendizaje </a:t>
            </a:r>
          </a:p>
          <a:p>
            <a:endParaRPr lang="es-PA" dirty="0"/>
          </a:p>
        </p:txBody>
      </p:sp>
      <p:pic>
        <p:nvPicPr>
          <p:cNvPr id="4" name="Imagen 9">
            <a:extLst>
              <a:ext uri="{FF2B5EF4-FFF2-40B4-BE49-F238E27FC236}">
                <a16:creationId xmlns:a16="http://schemas.microsoft.com/office/drawing/2014/main" id="{89B5ED9D-0945-D4A1-E2B1-8B711C1B69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1570757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EC099D-7CD8-8758-9866-BD78D9663C37}"/>
              </a:ext>
            </a:extLst>
          </p:cNvPr>
          <p:cNvSpPr>
            <a:spLocks noGrp="1"/>
          </p:cNvSpPr>
          <p:nvPr>
            <p:ph type="title"/>
          </p:nvPr>
        </p:nvSpPr>
        <p:spPr>
          <a:xfrm>
            <a:off x="1787535" y="914400"/>
            <a:ext cx="9997440" cy="1143000"/>
          </a:xfrm>
        </p:spPr>
        <p:txBody>
          <a:bodyPr>
            <a:normAutofit fontScale="90000"/>
          </a:bodyPr>
          <a:lstStyle/>
          <a:p>
            <a:r>
              <a:rPr lang="es-ES" b="1" dirty="0"/>
              <a:t>Características importantes</a:t>
            </a:r>
            <a:br>
              <a:rPr lang="es-ES" b="1" dirty="0"/>
            </a:br>
            <a:endParaRPr lang="es-PA" dirty="0"/>
          </a:p>
        </p:txBody>
      </p:sp>
      <p:sp>
        <p:nvSpPr>
          <p:cNvPr id="3" name="Marcador de texto 2">
            <a:extLst>
              <a:ext uri="{FF2B5EF4-FFF2-40B4-BE49-F238E27FC236}">
                <a16:creationId xmlns:a16="http://schemas.microsoft.com/office/drawing/2014/main" id="{0F4D3EF7-1AAB-445D-1FBF-0F760424D77D}"/>
              </a:ext>
            </a:extLst>
          </p:cNvPr>
          <p:cNvSpPr>
            <a:spLocks noGrp="1"/>
          </p:cNvSpPr>
          <p:nvPr>
            <p:ph type="body" idx="1"/>
          </p:nvPr>
        </p:nvSpPr>
        <p:spPr>
          <a:xfrm>
            <a:off x="1914144" y="2305929"/>
            <a:ext cx="9997440" cy="4800600"/>
          </a:xfrm>
        </p:spPr>
        <p:txBody>
          <a:bodyPr/>
          <a:lstStyle/>
          <a:p>
            <a:pPr>
              <a:buFont typeface="Arial" panose="020B0604020202020204" pitchFamily="34" charset="0"/>
              <a:buChar char="•"/>
            </a:pPr>
            <a:r>
              <a:rPr lang="es-ES" dirty="0"/>
              <a:t>Los síntomas varían según la edad. </a:t>
            </a:r>
          </a:p>
          <a:p>
            <a:pPr>
              <a:buFont typeface="Arial" panose="020B0604020202020204" pitchFamily="34" charset="0"/>
              <a:buChar char="•"/>
            </a:pPr>
            <a:r>
              <a:rPr lang="es-ES" dirty="0"/>
              <a:t>A veces se expresan más en la </a:t>
            </a:r>
            <a:r>
              <a:rPr lang="es-ES" b="1" dirty="0"/>
              <a:t>conducta</a:t>
            </a:r>
            <a:r>
              <a:rPr lang="es-ES" dirty="0"/>
              <a:t> que en el lenguaje. </a:t>
            </a:r>
          </a:p>
          <a:p>
            <a:pPr>
              <a:buFont typeface="Arial" panose="020B0604020202020204" pitchFamily="34" charset="0"/>
              <a:buChar char="•"/>
            </a:pPr>
            <a:r>
              <a:rPr lang="es-ES" dirty="0"/>
              <a:t>El contexto (familia, escuela) es clave en la evaluación.</a:t>
            </a:r>
          </a:p>
          <a:p>
            <a:endParaRPr lang="es-PA" dirty="0"/>
          </a:p>
        </p:txBody>
      </p:sp>
      <p:pic>
        <p:nvPicPr>
          <p:cNvPr id="4" name="Imagen 9">
            <a:extLst>
              <a:ext uri="{FF2B5EF4-FFF2-40B4-BE49-F238E27FC236}">
                <a16:creationId xmlns:a16="http://schemas.microsoft.com/office/drawing/2014/main" id="{89B5ED9D-0945-D4A1-E2B1-8B711C1B69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53625" y="6405562"/>
            <a:ext cx="2238375" cy="452438"/>
          </a:xfrm>
          <a:prstGeom prst="rect">
            <a:avLst/>
          </a:prstGeom>
          <a:solidFill>
            <a:schemeClr val="bg1"/>
          </a:solidFill>
          <a:ln>
            <a:noFill/>
          </a:ln>
        </p:spPr>
      </p:pic>
    </p:spTree>
    <p:extLst>
      <p:ext uri="{BB962C8B-B14F-4D97-AF65-F5344CB8AC3E}">
        <p14:creationId xmlns:p14="http://schemas.microsoft.com/office/powerpoint/2010/main" val="2404762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78531B-8861-8CE8-E7A6-10323A159F91}"/>
              </a:ext>
            </a:extLst>
          </p:cNvPr>
          <p:cNvSpPr>
            <a:spLocks noGrp="1"/>
          </p:cNvSpPr>
          <p:nvPr>
            <p:ph type="title"/>
          </p:nvPr>
        </p:nvSpPr>
        <p:spPr>
          <a:xfrm>
            <a:off x="1956347" y="2525468"/>
            <a:ext cx="9997440" cy="1143000"/>
          </a:xfrm>
        </p:spPr>
        <p:txBody>
          <a:bodyPr>
            <a:normAutofit fontScale="90000"/>
          </a:bodyPr>
          <a:lstStyle/>
          <a:p>
            <a:r>
              <a:rPr lang="es-ES" sz="8900" spc="0" dirty="0">
                <a:effectLst/>
                <a:latin typeface="Arial MT"/>
                <a:ea typeface="Arial MT"/>
                <a:cs typeface="Arial MT"/>
              </a:rPr>
              <a:t>Evolución</a:t>
            </a:r>
            <a:r>
              <a:rPr lang="es-ES" sz="8900" spc="-65" dirty="0">
                <a:effectLst/>
                <a:latin typeface="Arial MT"/>
                <a:ea typeface="Arial MT"/>
                <a:cs typeface="Arial MT"/>
              </a:rPr>
              <a:t> </a:t>
            </a:r>
            <a:r>
              <a:rPr lang="es-ES" sz="8900" spc="0" dirty="0">
                <a:effectLst/>
                <a:latin typeface="Arial MT"/>
                <a:ea typeface="Arial MT"/>
                <a:cs typeface="Arial MT"/>
              </a:rPr>
              <a:t>histórica</a:t>
            </a:r>
            <a:r>
              <a:rPr lang="es-ES" sz="8900" spc="-65" dirty="0">
                <a:effectLst/>
                <a:latin typeface="Arial MT"/>
                <a:ea typeface="Arial MT"/>
                <a:cs typeface="Arial MT"/>
              </a:rPr>
              <a:t> </a:t>
            </a:r>
            <a:r>
              <a:rPr lang="es-ES" sz="8900" spc="0" dirty="0">
                <a:effectLst/>
                <a:latin typeface="Arial MT"/>
                <a:ea typeface="Arial MT"/>
                <a:cs typeface="Arial MT"/>
              </a:rPr>
              <a:t>de</a:t>
            </a:r>
            <a:r>
              <a:rPr lang="es-ES" sz="8900" spc="-65" dirty="0">
                <a:effectLst/>
                <a:latin typeface="Arial MT"/>
                <a:ea typeface="Arial MT"/>
                <a:cs typeface="Arial MT"/>
              </a:rPr>
              <a:t> </a:t>
            </a:r>
            <a:r>
              <a:rPr lang="es-ES" sz="8900" spc="0" dirty="0">
                <a:effectLst/>
                <a:latin typeface="Arial MT"/>
                <a:ea typeface="Arial MT"/>
                <a:cs typeface="Arial MT"/>
              </a:rPr>
              <a:t>la psicopatología infantil y </a:t>
            </a:r>
            <a:r>
              <a:rPr lang="es-ES" sz="8900" spc="-10" dirty="0">
                <a:effectLst/>
                <a:latin typeface="Arial MT"/>
                <a:ea typeface="Arial MT"/>
                <a:cs typeface="Arial MT"/>
              </a:rPr>
              <a:t>adolescente.</a:t>
            </a:r>
            <a:br>
              <a:rPr lang="es-PA" sz="4000" spc="0" dirty="0">
                <a:effectLst/>
                <a:latin typeface="Arial MT"/>
                <a:ea typeface="Arial MT"/>
                <a:cs typeface="Arial MT"/>
              </a:rPr>
            </a:br>
            <a:endParaRPr lang="es-PA" dirty="0"/>
          </a:p>
        </p:txBody>
      </p:sp>
    </p:spTree>
    <p:extLst>
      <p:ext uri="{BB962C8B-B14F-4D97-AF65-F5344CB8AC3E}">
        <p14:creationId xmlns:p14="http://schemas.microsoft.com/office/powerpoint/2010/main" val="447989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lgn="ctr">
              <a:buClr>
                <a:srgbClr val="C00000"/>
              </a:buClr>
              <a:buSzPts val="4300"/>
            </a:pPr>
            <a:r>
              <a:rPr lang="es-PA">
                <a:solidFill>
                  <a:srgbClr val="C00000"/>
                </a:solidFill>
              </a:rPr>
              <a:t>PSICOPATOLOGIA</a:t>
            </a:r>
            <a:endParaRPr>
              <a:solidFill>
                <a:srgbClr val="C00000"/>
              </a:solidFill>
            </a:endParaRPr>
          </a:p>
        </p:txBody>
      </p:sp>
      <p:sp>
        <p:nvSpPr>
          <p:cNvPr id="109" name="Google Shape;109;p14"/>
          <p:cNvSpPr txBox="1">
            <a:spLocks noGrp="1"/>
          </p:cNvSpPr>
          <p:nvPr>
            <p:ph type="body" idx="1"/>
          </p:nvPr>
        </p:nvSpPr>
        <p:spPr>
          <a:xfrm>
            <a:off x="1981200" y="1600201"/>
            <a:ext cx="8229600" cy="3686188"/>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a:t>La psicopatología, (del griego, </a:t>
            </a:r>
            <a:r>
              <a:rPr lang="es-PA" i="1"/>
              <a:t>psyché</a:t>
            </a:r>
            <a:r>
              <a:rPr lang="es-PA"/>
              <a:t>: alma; </a:t>
            </a:r>
            <a:r>
              <a:rPr lang="es-PA" i="1"/>
              <a:t>pathos</a:t>
            </a:r>
            <a:r>
              <a:rPr lang="es-PA"/>
              <a:t>: enfermedad; y </a:t>
            </a:r>
            <a:r>
              <a:rPr lang="es-PA" i="1"/>
              <a:t>logos</a:t>
            </a:r>
            <a:r>
              <a:rPr lang="es-PA"/>
              <a:t>: discurso racional).</a:t>
            </a:r>
            <a:endParaRPr/>
          </a:p>
        </p:txBody>
      </p:sp>
      <p:pic>
        <p:nvPicPr>
          <p:cNvPr id="110" name="Google Shape;110;p14" descr="http://t2.gstatic.com/images?q=tbn:ANd9GcRinmhKbAuey3j6tpaU4CfPX4Q-1Qv6cSuXz2s8SQwQSdPFcGZgyQ"/>
          <p:cNvPicPr preferRelativeResize="0"/>
          <p:nvPr/>
        </p:nvPicPr>
        <p:blipFill rotWithShape="1">
          <a:blip r:embed="rId3">
            <a:alphaModFix/>
          </a:blip>
          <a:srcRect/>
          <a:stretch/>
        </p:blipFill>
        <p:spPr>
          <a:xfrm>
            <a:off x="4417256" y="3214686"/>
            <a:ext cx="6421295" cy="285752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5"/>
          <p:cNvSpPr txBox="1">
            <a:spLocks noGrp="1"/>
          </p:cNvSpPr>
          <p:nvPr>
            <p:ph type="title"/>
          </p:nvPr>
        </p:nvSpPr>
        <p:spPr>
          <a:xfrm>
            <a:off x="2959608" y="274638"/>
            <a:ext cx="7498080" cy="1143000"/>
          </a:xfrm>
          <a:prstGeom prst="rect">
            <a:avLst/>
          </a:prstGeom>
          <a:blipFill rotWithShape="1">
            <a:blip r:embed="rId3">
              <a:alphaModFix/>
            </a:blip>
            <a:tile tx="0" ty="0" sx="100000" sy="100000" flip="none" algn="tl"/>
          </a:blipFill>
          <a:ln>
            <a:noFill/>
          </a:ln>
        </p:spPr>
        <p:txBody>
          <a:bodyPr spcFirstLastPara="1" wrap="square" lIns="91425" tIns="45700" rIns="91425" bIns="45700" anchor="ctr" anchorCtr="0">
            <a:normAutofit/>
          </a:bodyPr>
          <a:lstStyle/>
          <a:p>
            <a:pPr algn="ctr">
              <a:buSzPts val="4300"/>
            </a:pPr>
            <a:r>
              <a:rPr lang="es-PA" b="1"/>
              <a:t>PSICOPATOLOGIA</a:t>
            </a:r>
            <a:endParaRPr b="1"/>
          </a:p>
        </p:txBody>
      </p:sp>
      <p:sp>
        <p:nvSpPr>
          <p:cNvPr id="116" name="Google Shape;116;p15"/>
          <p:cNvSpPr txBox="1">
            <a:spLocks noGrp="1"/>
          </p:cNvSpPr>
          <p:nvPr>
            <p:ph type="body" idx="1"/>
          </p:nvPr>
        </p:nvSpPr>
        <p:spPr>
          <a:xfrm>
            <a:off x="1981200" y="1600201"/>
            <a:ext cx="4543428" cy="4525963"/>
          </a:xfrm>
          <a:prstGeom prst="rect">
            <a:avLst/>
          </a:prstGeom>
          <a:noFill/>
          <a:ln>
            <a:noFill/>
          </a:ln>
        </p:spPr>
        <p:txBody>
          <a:bodyPr spcFirstLastPara="1" wrap="square" lIns="91425" tIns="45700" rIns="91425" bIns="45700" anchor="t" anchorCtr="0">
            <a:normAutofit lnSpcReduction="10000"/>
          </a:bodyPr>
          <a:lstStyle/>
          <a:p>
            <a:pPr marL="365760" indent="-283464" algn="just">
              <a:spcBef>
                <a:spcPts val="0"/>
              </a:spcBef>
              <a:buSzPts val="2560"/>
            </a:pPr>
            <a:r>
              <a:rPr lang="es-PA"/>
              <a:t>Es una disciplina científica cuyo objeto de estudio es la conducta anormal o desviada, y que presta especial interés a la naturaleza u orígenes de los comportamientos patológicos.</a:t>
            </a:r>
            <a:endParaRPr/>
          </a:p>
        </p:txBody>
      </p:sp>
      <p:pic>
        <p:nvPicPr>
          <p:cNvPr id="117" name="Google Shape;117;p15" descr="http://psicopatounah.files.wordpress.com/2009/06/desquiciada.jpg"/>
          <p:cNvPicPr preferRelativeResize="0"/>
          <p:nvPr/>
        </p:nvPicPr>
        <p:blipFill rotWithShape="1">
          <a:blip r:embed="rId4">
            <a:alphaModFix/>
          </a:blip>
          <a:srcRect/>
          <a:stretch/>
        </p:blipFill>
        <p:spPr>
          <a:xfrm>
            <a:off x="7598171" y="1714489"/>
            <a:ext cx="3476626" cy="463867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2959608" y="274638"/>
            <a:ext cx="7498080" cy="1143000"/>
          </a:xfrm>
          <a:prstGeom prst="rect">
            <a:avLst/>
          </a:prstGeom>
          <a:solidFill>
            <a:srgbClr val="5C1E34"/>
          </a:solidFill>
          <a:ln>
            <a:noFill/>
          </a:ln>
        </p:spPr>
        <p:txBody>
          <a:bodyPr spcFirstLastPara="1" wrap="square" lIns="91425" tIns="45700" rIns="91425" bIns="45700" anchor="ctr" anchorCtr="0">
            <a:normAutofit/>
          </a:bodyPr>
          <a:lstStyle/>
          <a:p>
            <a:pPr algn="ctr">
              <a:buClr>
                <a:srgbClr val="CCECFF"/>
              </a:buClr>
              <a:buSzPts val="4300"/>
            </a:pPr>
            <a:r>
              <a:rPr lang="es-PA">
                <a:solidFill>
                  <a:srgbClr val="CCECFF"/>
                </a:solidFill>
              </a:rPr>
              <a:t>PSICOPATOLOGIA</a:t>
            </a:r>
            <a:endParaRPr>
              <a:solidFill>
                <a:srgbClr val="CCECFF"/>
              </a:solidFill>
            </a:endParaRPr>
          </a:p>
        </p:txBody>
      </p:sp>
      <p:sp>
        <p:nvSpPr>
          <p:cNvPr id="123" name="Google Shape;123;p16"/>
          <p:cNvSpPr txBox="1">
            <a:spLocks noGrp="1"/>
          </p:cNvSpPr>
          <p:nvPr>
            <p:ph type="body" idx="1"/>
          </p:nvPr>
        </p:nvSpPr>
        <p:spPr>
          <a:xfrm>
            <a:off x="2959608" y="1447800"/>
            <a:ext cx="7498080" cy="2695580"/>
          </a:xfrm>
          <a:prstGeom prst="rect">
            <a:avLst/>
          </a:prstGeom>
          <a:noFill/>
          <a:ln>
            <a:noFill/>
          </a:ln>
        </p:spPr>
        <p:txBody>
          <a:bodyPr spcFirstLastPara="1" wrap="square" lIns="91425" tIns="45700" rIns="91425" bIns="45700" anchor="t" anchorCtr="0">
            <a:normAutofit fontScale="92500" lnSpcReduction="10000"/>
          </a:bodyPr>
          <a:lstStyle/>
          <a:p>
            <a:pPr marL="82296" indent="0" algn="just">
              <a:spcBef>
                <a:spcPts val="0"/>
              </a:spcBef>
              <a:buSzPct val="80000"/>
              <a:buNone/>
            </a:pPr>
            <a:r>
              <a:rPr lang="es-PA" dirty="0"/>
              <a:t>La Psicopatología  se centra en el estudio científico de la conducta anormal, tanto en los aspectos descriptivos (clasificación, diagnóstico, descripción clínica, etc.) como en los etiológicos (factores causales, teorías y modelos etiológicos, etc.). </a:t>
            </a:r>
            <a:endParaRPr dirty="0"/>
          </a:p>
        </p:txBody>
      </p:sp>
      <p:pic>
        <p:nvPicPr>
          <p:cNvPr id="124" name="Google Shape;124;p16" descr="http://www.revistafusion.com/2008/mayo/tc1.jpg"/>
          <p:cNvPicPr preferRelativeResize="0"/>
          <p:nvPr/>
        </p:nvPicPr>
        <p:blipFill rotWithShape="1">
          <a:blip r:embed="rId3">
            <a:alphaModFix/>
          </a:blip>
          <a:srcRect/>
          <a:stretch/>
        </p:blipFill>
        <p:spPr>
          <a:xfrm>
            <a:off x="6810380" y="4214818"/>
            <a:ext cx="3429024" cy="2357458"/>
          </a:xfrm>
          <a:prstGeom prst="rect">
            <a:avLst/>
          </a:prstGeom>
          <a:noFill/>
          <a:ln>
            <a:noFill/>
          </a:ln>
        </p:spPr>
      </p:pic>
      <p:sp>
        <p:nvSpPr>
          <p:cNvPr id="125" name="Google Shape;125;p16"/>
          <p:cNvSpPr/>
          <p:nvPr/>
        </p:nvSpPr>
        <p:spPr>
          <a:xfrm>
            <a:off x="2095472" y="5286389"/>
            <a:ext cx="4572000" cy="120032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r>
              <a:rPr lang="es-PA" sz="2400">
                <a:solidFill>
                  <a:schemeClr val="dk1"/>
                </a:solidFill>
                <a:latin typeface="Gill Sans"/>
                <a:ea typeface="Gill Sans"/>
                <a:cs typeface="Gill Sans"/>
                <a:sym typeface="Gill Sans"/>
              </a:rPr>
              <a:t>Estudia lo anormal, lo desviado, lo desadaptado, lo trastornado, lo desorganizado.</a:t>
            </a:r>
            <a:endParaRPr sz="2400">
              <a:solidFill>
                <a:schemeClr val="dk1"/>
              </a:solidFill>
              <a:latin typeface="Gill Sans"/>
              <a:ea typeface="Gill Sans"/>
              <a:cs typeface="Gill Sans"/>
              <a:sym typeface="Gill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Clr>
                <a:srgbClr val="002060"/>
              </a:buClr>
              <a:buSzPts val="4300"/>
            </a:pPr>
            <a:r>
              <a:rPr lang="es-PA" b="1">
                <a:solidFill>
                  <a:srgbClr val="002060"/>
                </a:solidFill>
              </a:rPr>
              <a:t>PSICOPATOLOGIA</a:t>
            </a:r>
            <a:endParaRPr b="1">
              <a:solidFill>
                <a:srgbClr val="002060"/>
              </a:solidFill>
            </a:endParaRPr>
          </a:p>
        </p:txBody>
      </p:sp>
      <p:sp>
        <p:nvSpPr>
          <p:cNvPr id="131" name="Google Shape;131;p17"/>
          <p:cNvSpPr txBox="1">
            <a:spLocks noGrp="1"/>
          </p:cNvSpPr>
          <p:nvPr>
            <p:ph type="body" idx="1"/>
          </p:nvPr>
        </p:nvSpPr>
        <p:spPr>
          <a:xfrm>
            <a:off x="1981200" y="1600201"/>
            <a:ext cx="4471990" cy="4525963"/>
          </a:xfrm>
          <a:prstGeom prst="rect">
            <a:avLst/>
          </a:prstGeom>
          <a:noFill/>
          <a:ln>
            <a:noFill/>
          </a:ln>
        </p:spPr>
        <p:txBody>
          <a:bodyPr spcFirstLastPara="1" wrap="square" lIns="91425" tIns="45700" rIns="91425" bIns="45700" anchor="t" anchorCtr="0">
            <a:normAutofit/>
          </a:bodyPr>
          <a:lstStyle/>
          <a:p>
            <a:pPr marL="82296" indent="0" algn="just">
              <a:spcBef>
                <a:spcPts val="0"/>
              </a:spcBef>
              <a:buSzPts val="2560"/>
              <a:buNone/>
            </a:pPr>
            <a:r>
              <a:rPr lang="es-PA" dirty="0"/>
              <a:t>Sirve como base para disciplinas más aplicadas, como la psicología clínica o la psiquiatría, y guía los procesos de prevención, diagnóstico y tratamiento. </a:t>
            </a:r>
            <a:endParaRPr dirty="0"/>
          </a:p>
        </p:txBody>
      </p:sp>
      <p:pic>
        <p:nvPicPr>
          <p:cNvPr id="132" name="Google Shape;132;p17" descr="http://www.discapacidadonline.com/wp-content/uploads/2012/05/trastorno-mental.jpg"/>
          <p:cNvPicPr preferRelativeResize="0"/>
          <p:nvPr/>
        </p:nvPicPr>
        <p:blipFill rotWithShape="1">
          <a:blip r:embed="rId3">
            <a:alphaModFix/>
          </a:blip>
          <a:srcRect/>
          <a:stretch/>
        </p:blipFill>
        <p:spPr>
          <a:xfrm>
            <a:off x="6738942" y="1714488"/>
            <a:ext cx="3357586" cy="414340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8"/>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38" name="Google Shape;138;p18"/>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lnSpcReduction="10000"/>
          </a:bodyPr>
          <a:lstStyle/>
          <a:p>
            <a:pPr marL="82296" indent="0" algn="just">
              <a:spcBef>
                <a:spcPts val="0"/>
              </a:spcBef>
              <a:buSzPts val="2560"/>
              <a:buNone/>
            </a:pPr>
            <a:r>
              <a:rPr lang="es-PA" dirty="0"/>
              <a:t>A lo largo de la épocas, el concepto mismo de enfermedad mental ha ido evolucionando en función del momento histórico y de las circunstancias culturales de cada sociedad. </a:t>
            </a:r>
            <a:endParaRPr dirty="0"/>
          </a:p>
          <a:p>
            <a:pPr marL="365760" indent="-283464" algn="just">
              <a:buSzPts val="2560"/>
              <a:buNone/>
            </a:pPr>
            <a:endParaRPr dirty="0"/>
          </a:p>
          <a:p>
            <a:pPr marL="82296" indent="0" algn="just">
              <a:buSzPts val="2560"/>
              <a:buNone/>
            </a:pPr>
            <a:r>
              <a:rPr lang="es-PA" dirty="0"/>
              <a:t>Tanto la conducta anormal como el modo en que debía ser tratada se han entendido de muy distintas formas desde la antigüedad hasta nuestros días.</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9"/>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44" name="Google Shape;144;p19"/>
          <p:cNvSpPr txBox="1">
            <a:spLocks noGrp="1"/>
          </p:cNvSpPr>
          <p:nvPr>
            <p:ph type="body" idx="1"/>
          </p:nvPr>
        </p:nvSpPr>
        <p:spPr>
          <a:xfrm>
            <a:off x="1981200" y="1428737"/>
            <a:ext cx="5257808" cy="4697427"/>
          </a:xfrm>
          <a:prstGeom prst="rect">
            <a:avLst/>
          </a:prstGeom>
          <a:noFill/>
          <a:ln>
            <a:noFill/>
          </a:ln>
        </p:spPr>
        <p:txBody>
          <a:bodyPr spcFirstLastPara="1" wrap="square" lIns="91425" tIns="45700" rIns="91425" bIns="45700" anchor="t" anchorCtr="0">
            <a:normAutofit fontScale="92500" lnSpcReduction="20000"/>
          </a:bodyPr>
          <a:lstStyle/>
          <a:p>
            <a:pPr marL="82296" indent="0">
              <a:spcBef>
                <a:spcPts val="0"/>
              </a:spcBef>
              <a:buSzPct val="80000"/>
              <a:buNone/>
            </a:pPr>
            <a:r>
              <a:rPr lang="es-PA" dirty="0"/>
              <a:t>Podemos señalar las primeras concepciones mágicas y animistas de las sociedades o culturas primitivas.</a:t>
            </a:r>
            <a:endParaRPr dirty="0"/>
          </a:p>
          <a:p>
            <a:pPr marL="82296" indent="0">
              <a:buSzPct val="80000"/>
              <a:buNone/>
            </a:pPr>
            <a:endParaRPr lang="es-PA" dirty="0"/>
          </a:p>
          <a:p>
            <a:pPr marL="82296" indent="0">
              <a:buSzPct val="80000"/>
              <a:buNone/>
            </a:pPr>
            <a:r>
              <a:rPr lang="es-PA" dirty="0"/>
              <a:t>La terapia comprendía exorcismos ( expulsión de un demonio por medio de la magia o la oración)</a:t>
            </a:r>
            <a:endParaRPr dirty="0"/>
          </a:p>
          <a:p>
            <a:pPr marL="82296" indent="0">
              <a:buSzPct val="80000"/>
              <a:buNone/>
            </a:pPr>
            <a:r>
              <a:rPr lang="es-PA" dirty="0"/>
              <a:t>Se asociaba a defectos orgánicos.(trepanación) </a:t>
            </a:r>
            <a:endParaRPr dirty="0"/>
          </a:p>
          <a:p>
            <a:pPr marL="365760" indent="-133096">
              <a:buSzPct val="80000"/>
              <a:buNone/>
            </a:pPr>
            <a:endParaRPr dirty="0"/>
          </a:p>
          <a:p>
            <a:pPr marL="365760" indent="-133096">
              <a:buSzPct val="80000"/>
              <a:buNone/>
            </a:pPr>
            <a:endParaRPr dirty="0"/>
          </a:p>
        </p:txBody>
      </p:sp>
      <p:pic>
        <p:nvPicPr>
          <p:cNvPr id="145" name="Google Shape;145;p19" descr="http://t1.gstatic.com/images?q=tbn:ANd9GcRGk63XqWzFljBYEdKYtIVfiOK5Fzq9m2mNxhAwaBr92VpiQ-ygfQ"/>
          <p:cNvPicPr preferRelativeResize="0"/>
          <p:nvPr/>
        </p:nvPicPr>
        <p:blipFill rotWithShape="1">
          <a:blip r:embed="rId3">
            <a:alphaModFix/>
          </a:blip>
          <a:srcRect/>
          <a:stretch/>
        </p:blipFill>
        <p:spPr>
          <a:xfrm>
            <a:off x="7600168" y="1417637"/>
            <a:ext cx="3850934" cy="45751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51" name="Google Shape;151;p20"/>
          <p:cNvSpPr txBox="1">
            <a:spLocks noGrp="1"/>
          </p:cNvSpPr>
          <p:nvPr>
            <p:ph type="body" idx="1"/>
          </p:nvPr>
        </p:nvSpPr>
        <p:spPr>
          <a:xfrm>
            <a:off x="2959608" y="1447800"/>
            <a:ext cx="8013192" cy="4800600"/>
          </a:xfrm>
          <a:prstGeom prst="rect">
            <a:avLst/>
          </a:prstGeom>
          <a:noFill/>
          <a:ln>
            <a:noFill/>
          </a:ln>
        </p:spPr>
        <p:txBody>
          <a:bodyPr spcFirstLastPara="1" wrap="square" lIns="91425" tIns="45700" rIns="91425" bIns="45700" anchor="t" anchorCtr="0">
            <a:normAutofit lnSpcReduction="10000"/>
          </a:bodyPr>
          <a:lstStyle/>
          <a:p>
            <a:pPr marL="539496" indent="-457200">
              <a:spcBef>
                <a:spcPts val="0"/>
              </a:spcBef>
              <a:buSzPts val="2560"/>
              <a:buFont typeface="Wingdings" panose="05000000000000000000" pitchFamily="2" charset="2"/>
              <a:buChar char="§"/>
            </a:pPr>
            <a:r>
              <a:rPr lang="es-PA" dirty="0"/>
              <a:t>Todo comienza en la </a:t>
            </a:r>
            <a:r>
              <a:rPr lang="es-PA" b="1" u="sng" dirty="0"/>
              <a:t>ÉPOCA GRIEGA</a:t>
            </a:r>
            <a:r>
              <a:rPr lang="es-PA" dirty="0"/>
              <a:t>. Es una cultura politeísta. SCULAPIO es el Dios de la curación. Los enfermos peregrinaban a estos templos, a rezar, para curarse.</a:t>
            </a:r>
            <a:endParaRPr dirty="0"/>
          </a:p>
          <a:p>
            <a:pPr marL="365760" indent="-283464">
              <a:buSzPts val="800"/>
              <a:buFont typeface="Wingdings" panose="05000000000000000000" pitchFamily="2" charset="2"/>
              <a:buChar char="§"/>
            </a:pPr>
            <a:endParaRPr sz="1000" dirty="0"/>
          </a:p>
          <a:p>
            <a:pPr marL="539496" indent="-457200">
              <a:buSzPts val="2560"/>
              <a:buFont typeface="Wingdings" panose="05000000000000000000" pitchFamily="2" charset="2"/>
              <a:buChar char="§"/>
            </a:pPr>
            <a:r>
              <a:rPr lang="es-PA" dirty="0"/>
              <a:t> En una buena parte de la cultura griega, se entendía la LOCURA, como demonológica, que el demonio te ha poseído. Un castigo como consecuencia de las ofensas infringidas a los Dioses.</a:t>
            </a:r>
            <a:endParaRPr dirty="0"/>
          </a:p>
          <a:p>
            <a:pPr marL="365760" indent="-120904">
              <a:buSzPts val="2560"/>
              <a:buNone/>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2748593" y="851414"/>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dirty="0"/>
              <a:t>Historia de la Psicopatología</a:t>
            </a:r>
            <a:endParaRPr dirty="0"/>
          </a:p>
        </p:txBody>
      </p:sp>
      <p:sp>
        <p:nvSpPr>
          <p:cNvPr id="157" name="Google Shape;157;p21"/>
          <p:cNvSpPr txBox="1">
            <a:spLocks noGrp="1"/>
          </p:cNvSpPr>
          <p:nvPr>
            <p:ph type="body" idx="1"/>
          </p:nvPr>
        </p:nvSpPr>
        <p:spPr>
          <a:xfrm>
            <a:off x="2082019" y="2235591"/>
            <a:ext cx="8586685" cy="4800600"/>
          </a:xfrm>
          <a:prstGeom prst="rect">
            <a:avLst/>
          </a:prstGeom>
          <a:noFill/>
          <a:ln>
            <a:noFill/>
          </a:ln>
        </p:spPr>
        <p:txBody>
          <a:bodyPr spcFirstLastPara="1" wrap="square" lIns="91425" tIns="45700" rIns="91425" bIns="45700" anchor="t" anchorCtr="0">
            <a:normAutofit/>
          </a:bodyPr>
          <a:lstStyle/>
          <a:p>
            <a:pPr marL="539496" indent="-457200" algn="just">
              <a:spcBef>
                <a:spcPts val="0"/>
              </a:spcBef>
              <a:buSzPts val="2560"/>
              <a:buFont typeface="Wingdings" panose="05000000000000000000" pitchFamily="2" charset="2"/>
              <a:buChar char="§"/>
            </a:pPr>
            <a:r>
              <a:rPr lang="es-PA" b="1" dirty="0"/>
              <a:t>HIPÓCRATES</a:t>
            </a:r>
            <a:r>
              <a:rPr lang="es-PA" dirty="0"/>
              <a:t> nos dice que algunas enfermedades mentales tienen su </a:t>
            </a:r>
            <a:r>
              <a:rPr lang="es-PA" dirty="0">
                <a:solidFill>
                  <a:srgbClr val="874296"/>
                </a:solidFill>
              </a:rPr>
              <a:t>origen en el cuerpo. </a:t>
            </a:r>
            <a:r>
              <a:rPr lang="es-PA" dirty="0"/>
              <a:t>Nos habla de la depresión </a:t>
            </a:r>
            <a:r>
              <a:rPr lang="es-PA" dirty="0" err="1"/>
              <a:t>post-parto</a:t>
            </a:r>
            <a:r>
              <a:rPr lang="es-PA" dirty="0"/>
              <a:t>, los delirios por infecciones, etc. Describe, perfectamente, cuadros febriles delirantes de los procesos infecciosos. </a:t>
            </a:r>
            <a:endParaRPr dirty="0"/>
          </a:p>
          <a:p>
            <a:pPr marL="365760" indent="-283464">
              <a:buSzPts val="2560"/>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63" name="Google Shape;163;p22"/>
          <p:cNvSpPr txBox="1">
            <a:spLocks noGrp="1"/>
          </p:cNvSpPr>
          <p:nvPr>
            <p:ph type="body" idx="1"/>
          </p:nvPr>
        </p:nvSpPr>
        <p:spPr>
          <a:xfrm>
            <a:off x="1981200" y="1600201"/>
            <a:ext cx="5186370" cy="4525963"/>
          </a:xfrm>
          <a:prstGeom prst="rect">
            <a:avLst/>
          </a:prstGeom>
          <a:noFill/>
          <a:ln>
            <a:noFill/>
          </a:ln>
        </p:spPr>
        <p:txBody>
          <a:bodyPr spcFirstLastPara="1" wrap="square" lIns="91425" tIns="45700" rIns="91425" bIns="45700" anchor="t" anchorCtr="0">
            <a:normAutofit fontScale="92500" lnSpcReduction="10000"/>
          </a:bodyPr>
          <a:lstStyle/>
          <a:p>
            <a:pPr marL="365760" indent="-283464">
              <a:spcBef>
                <a:spcPts val="0"/>
              </a:spcBef>
              <a:buSzPct val="80000"/>
            </a:pPr>
            <a:r>
              <a:rPr lang="es-PA" b="1"/>
              <a:t>HIPÓCRATES  </a:t>
            </a:r>
            <a:r>
              <a:rPr lang="es-PA"/>
              <a:t>dice  que la enfermedad mental tiene un origen somático, porque “este hombre tiene algo roto en su cabeza”. </a:t>
            </a:r>
            <a:endParaRPr/>
          </a:p>
          <a:p>
            <a:pPr marL="365760" indent="-283464">
              <a:buSzPct val="80000"/>
            </a:pPr>
            <a:r>
              <a:rPr lang="es-PA"/>
              <a:t>Por lo tanto, Hipócrates es el </a:t>
            </a:r>
            <a:r>
              <a:rPr lang="es-PA" b="1"/>
              <a:t>precursor de la enfermedad mental</a:t>
            </a:r>
            <a:r>
              <a:rPr lang="es-PA"/>
              <a:t>, la cual </a:t>
            </a:r>
            <a:r>
              <a:rPr lang="es-PA" b="1"/>
              <a:t>describió</a:t>
            </a:r>
            <a:r>
              <a:rPr lang="es-PA"/>
              <a:t> en sus escritos.</a:t>
            </a:r>
            <a:endParaRPr/>
          </a:p>
        </p:txBody>
      </p:sp>
      <p:pic>
        <p:nvPicPr>
          <p:cNvPr id="164" name="Google Shape;164;p22" descr="http://t1.gstatic.com/images?q=tbn:ANd9GcQGWTGC5pQyH9BwZNfxnZazGIrHBhBr2sXE_3L02W05D1ZtDU0b"/>
          <p:cNvPicPr preferRelativeResize="0"/>
          <p:nvPr/>
        </p:nvPicPr>
        <p:blipFill rotWithShape="1">
          <a:blip r:embed="rId3">
            <a:alphaModFix/>
          </a:blip>
          <a:srcRect/>
          <a:stretch/>
        </p:blipFill>
        <p:spPr>
          <a:xfrm>
            <a:off x="7167570" y="1928802"/>
            <a:ext cx="3238500" cy="37147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70" name="Google Shape;170;p23"/>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fontScale="92500" lnSpcReduction="10000"/>
          </a:bodyPr>
          <a:lstStyle/>
          <a:p>
            <a:pPr marL="365760" indent="-283464">
              <a:spcBef>
                <a:spcPts val="0"/>
              </a:spcBef>
              <a:buSzPct val="80000"/>
            </a:pPr>
            <a:r>
              <a:rPr lang="es-PA" b="1"/>
              <a:t>PLATÓN</a:t>
            </a:r>
            <a:r>
              <a:rPr lang="es-PA"/>
              <a:t>: en Grecia, el saber era libre. Platón fue un gran filósofo. </a:t>
            </a:r>
            <a:r>
              <a:rPr lang="es-PA">
                <a:solidFill>
                  <a:srgbClr val="842F73"/>
                </a:solidFill>
              </a:rPr>
              <a:t>Dijo que el cuerpo tiene materia y tiene espíritu (concepto dualista). </a:t>
            </a:r>
            <a:endParaRPr/>
          </a:p>
          <a:p>
            <a:pPr marL="365760" indent="-283464">
              <a:buSzPct val="80000"/>
            </a:pPr>
            <a:r>
              <a:rPr lang="es-PA"/>
              <a:t>Hizo una interpretación religiosa de un trastorno psicopatológico. </a:t>
            </a:r>
            <a:endParaRPr/>
          </a:p>
          <a:p>
            <a:pPr marL="365760" indent="-283464">
              <a:buSzPct val="80000"/>
            </a:pPr>
            <a:r>
              <a:rPr lang="es-PA"/>
              <a:t>Platón dividió el cuerpo, en parte física y en parte psicológica (el “alma”), aunque a lo psicológico le da una </a:t>
            </a:r>
            <a:r>
              <a:rPr lang="es-PA" b="1"/>
              <a:t>interpretación</a:t>
            </a:r>
            <a:r>
              <a:rPr lang="es-PA"/>
              <a:t> </a:t>
            </a:r>
            <a:r>
              <a:rPr lang="es-PA" b="1"/>
              <a:t>pseudoreligiosa</a:t>
            </a:r>
            <a:r>
              <a:rPr lang="es-PA"/>
              <a:t>. Ya que divide el ALMA en alma mala y en alma buena.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24" descr="http://www.biografiasyvidas.com/biografia/p/fotos/platon.jpg"/>
          <p:cNvPicPr preferRelativeResize="0"/>
          <p:nvPr/>
        </p:nvPicPr>
        <p:blipFill rotWithShape="1">
          <a:blip r:embed="rId3">
            <a:alphaModFix/>
          </a:blip>
          <a:srcRect/>
          <a:stretch/>
        </p:blipFill>
        <p:spPr>
          <a:xfrm>
            <a:off x="6881818" y="1571612"/>
            <a:ext cx="3238500" cy="4133850"/>
          </a:xfrm>
          <a:prstGeom prst="rect">
            <a:avLst/>
          </a:prstGeom>
          <a:noFill/>
          <a:ln>
            <a:noFill/>
          </a:ln>
        </p:spPr>
      </p:pic>
      <p:sp>
        <p:nvSpPr>
          <p:cNvPr id="176" name="Google Shape;176;p24"/>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77" name="Google Shape;177;p24"/>
          <p:cNvSpPr txBox="1">
            <a:spLocks noGrp="1"/>
          </p:cNvSpPr>
          <p:nvPr>
            <p:ph type="body" idx="1"/>
          </p:nvPr>
        </p:nvSpPr>
        <p:spPr>
          <a:xfrm>
            <a:off x="1981200" y="1600201"/>
            <a:ext cx="4829180" cy="4525963"/>
          </a:xfrm>
          <a:prstGeom prst="rect">
            <a:avLst/>
          </a:prstGeom>
          <a:noFill/>
          <a:ln>
            <a:noFill/>
          </a:ln>
        </p:spPr>
        <p:txBody>
          <a:bodyPr spcFirstLastPara="1" wrap="square" lIns="91425" tIns="45700" rIns="91425" bIns="45700" anchor="t" anchorCtr="0">
            <a:normAutofit/>
          </a:bodyPr>
          <a:lstStyle/>
          <a:p>
            <a:pPr marL="365760" indent="-283464">
              <a:spcBef>
                <a:spcPts val="0"/>
              </a:spcBef>
              <a:buSzPts val="2560"/>
              <a:buNone/>
            </a:pPr>
            <a:r>
              <a:rPr lang="es-PA" b="1"/>
              <a:t>PLATON</a:t>
            </a:r>
            <a:endParaRPr/>
          </a:p>
          <a:p>
            <a:pPr marL="365760" indent="-283464" algn="just">
              <a:buSzPts val="2560"/>
            </a:pPr>
            <a:r>
              <a:rPr lang="es-PA"/>
              <a:t>Consideró que la conducta perturbada era producto de los conflictos internos entre la razón y la emoción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83" name="Google Shape;183;p25"/>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a:t>ARISTÓTELES</a:t>
            </a:r>
            <a:r>
              <a:rPr lang="es-PA"/>
              <a:t>: filósofo griego. El ALMA HUMANA tiene dos facetas: la </a:t>
            </a:r>
            <a:r>
              <a:rPr lang="es-PA" b="1"/>
              <a:t>racional</a:t>
            </a:r>
            <a:r>
              <a:rPr lang="es-PA"/>
              <a:t> (la que piensa) y la </a:t>
            </a:r>
            <a:r>
              <a:rPr lang="es-PA" b="1"/>
              <a:t>irracional</a:t>
            </a:r>
            <a:r>
              <a:rPr lang="es-PA"/>
              <a:t>. </a:t>
            </a:r>
            <a:endParaRPr/>
          </a:p>
          <a:p>
            <a:pPr marL="640080" lvl="1" indent="-237744" algn="just">
              <a:buSzPts val="2800"/>
            </a:pPr>
            <a:r>
              <a:rPr lang="es-PA"/>
              <a:t>Son </a:t>
            </a:r>
            <a:r>
              <a:rPr lang="es-PA" b="1"/>
              <a:t>interpretaciones muy simplicistas</a:t>
            </a:r>
            <a:r>
              <a:rPr lang="es-PA"/>
              <a:t>, desde nuestra óptica presentista. Sin embargo, para aquella época, eran unas ideas muy adelantadas para su tiempo. Haciendo un esfuerzo de historicismo, se trata de un gran adelanto.</a:t>
            </a:r>
            <a:endParaRPr/>
          </a:p>
          <a:p>
            <a:pPr marL="365760" indent="-283464">
              <a:buSzPts val="2560"/>
              <a:buNone/>
            </a:pPr>
            <a:endParaRPr/>
          </a:p>
          <a:p>
            <a:pPr marL="365760" indent="-120904">
              <a:buSzPts val="2560"/>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6"/>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89" name="Google Shape;189;p26"/>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lnSpcReduction="10000"/>
          </a:bodyPr>
          <a:lstStyle/>
          <a:p>
            <a:pPr marL="365760" indent="-283464">
              <a:spcBef>
                <a:spcPts val="0"/>
              </a:spcBef>
              <a:buSzPts val="2560"/>
            </a:pPr>
            <a:r>
              <a:rPr lang="es-PA" b="1" u="sng"/>
              <a:t>IMPERIO ROMANO:</a:t>
            </a:r>
            <a:endParaRPr/>
          </a:p>
          <a:p>
            <a:pPr marL="365760" indent="-283464">
              <a:buSzPts val="2560"/>
              <a:buNone/>
            </a:pPr>
            <a:r>
              <a:rPr lang="es-PA"/>
              <a:t>    Los romanos heredaron sus bases filosóficas del mundo griego</a:t>
            </a:r>
            <a:endParaRPr/>
          </a:p>
          <a:p>
            <a:pPr marL="365760" indent="-283464">
              <a:buSzPts val="2560"/>
            </a:pPr>
            <a:r>
              <a:rPr lang="es-PA"/>
              <a:t>Una persona, con un problema de </a:t>
            </a:r>
            <a:r>
              <a:rPr lang="es-PA" b="1"/>
              <a:t>locura</a:t>
            </a:r>
            <a:r>
              <a:rPr lang="es-PA"/>
              <a:t>, podía cometer crímenes, pero, al no ser responsable de sus actos, podía ser eximida o reducida su pena, ya que esta persona no es consciente de sus actos. Estaba regulado en los Tratados de Derecho, de aquel entonces.</a:t>
            </a:r>
            <a:endParaRPr/>
          </a:p>
          <a:p>
            <a:pPr marL="365760" indent="-120904">
              <a:buSzPts val="2560"/>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7"/>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195" name="Google Shape;195;p27"/>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spcBef>
                <a:spcPts val="0"/>
              </a:spcBef>
              <a:buSzPts val="2560"/>
            </a:pPr>
            <a:r>
              <a:rPr lang="es-PA" b="1"/>
              <a:t>GALENO</a:t>
            </a:r>
            <a:r>
              <a:rPr lang="es-PA"/>
              <a:t>: fue un filósofo, un pensador. Describió las enfermedades mentales y habla de “Trastornos Mentales”. </a:t>
            </a:r>
            <a:endParaRPr/>
          </a:p>
          <a:p>
            <a:pPr marL="365760" indent="-283464">
              <a:buSzPts val="2560"/>
            </a:pPr>
            <a:r>
              <a:rPr lang="es-PA"/>
              <a:t>El Circo Romano entretenía a la plebe, se utilizaba para distraer a la gente, ya que los leones devoraban a los esclavos y a los dementes.</a:t>
            </a:r>
            <a:endParaRPr/>
          </a:p>
          <a:p>
            <a:pPr marL="365760" indent="-283464">
              <a:buSzPts val="2560"/>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01" name="Google Shape;201;p28"/>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u="sng"/>
              <a:t>EDAD MEDIA</a:t>
            </a:r>
            <a:r>
              <a:rPr lang="es-PA"/>
              <a:t>: siglos IX-X hasta el siglo XIV. Fue un periodo muy importante.</a:t>
            </a:r>
            <a:endParaRPr/>
          </a:p>
          <a:p>
            <a:pPr marL="365760" indent="-283464" algn="just">
              <a:buSzPts val="2560"/>
            </a:pPr>
            <a:r>
              <a:rPr lang="es-PA" b="1"/>
              <a:t>A. MUNDO ÁRABE</a:t>
            </a:r>
            <a:r>
              <a:rPr lang="es-PA"/>
              <a:t>. El mundo árabe tenía el conocimiento científico, físico, médico y económico importante. En el mundo de la Psicopatología, los árabes fueron muy curiosos.</a:t>
            </a:r>
            <a:endParaRPr/>
          </a:p>
          <a:p>
            <a:pPr marL="365760" indent="-120904">
              <a:buSzPts val="2560"/>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9"/>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07" name="Google Shape;207;p29"/>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a:t>MAHOMA:</a:t>
            </a:r>
            <a:r>
              <a:rPr lang="es-PA"/>
              <a:t> dice que los locos son enviados de Dios y hay que tener cuidado de ellos, que hay que cuidar bien de ellos.</a:t>
            </a:r>
            <a:endParaRPr/>
          </a:p>
          <a:p>
            <a:pPr marL="365760" indent="-283464" algn="just">
              <a:buSzPts val="2560"/>
            </a:pPr>
            <a:r>
              <a:rPr lang="es-PA" b="1"/>
              <a:t>CORÁN:</a:t>
            </a:r>
            <a:r>
              <a:rPr lang="es-PA"/>
              <a:t> dice que el hombre que ha perdido la razón es el hombre que siempre dice la verdad. Como los locos eran “enviados de Alá”, crearon hospitales psiquiátricos, que parecían auténticos hoteles.</a:t>
            </a:r>
            <a:endParaRPr/>
          </a:p>
          <a:p>
            <a:pPr marL="365760" indent="-120904">
              <a:buSzPts val="256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13" name="Google Shape;213;p30"/>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a:t>AVERROES</a:t>
            </a:r>
            <a:r>
              <a:rPr lang="es-PA"/>
              <a:t>: dedica un libro entero a describir enfermedades mentales, con descripciones de éstas. Trataban a los enfermos mentales con gran humanidad. </a:t>
            </a:r>
            <a:endParaRPr/>
          </a:p>
          <a:p>
            <a:pPr marL="365760" indent="-283464" algn="just">
              <a:buSzPts val="2560"/>
            </a:pPr>
            <a:r>
              <a:rPr lang="es-PA" b="1"/>
              <a:t>EUROPA:</a:t>
            </a:r>
            <a:r>
              <a:rPr lang="es-PA"/>
              <a:t> el fenómeno de los trastornos mentales desconcierta Europa. Muchos de sus Reinos se encuentran segmentados</a:t>
            </a:r>
            <a:endParaRPr/>
          </a:p>
          <a:p>
            <a:pPr marL="365760" indent="-283464">
              <a:buSzPts val="256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1"/>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19" name="Google Shape;219;p31"/>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a:t>IGLESIA CATÓLICA</a:t>
            </a:r>
            <a:r>
              <a:rPr lang="es-PA"/>
              <a:t>: hace una </a:t>
            </a:r>
            <a:r>
              <a:rPr lang="es-PA" b="1"/>
              <a:t>interpretación monológica</a:t>
            </a:r>
            <a:r>
              <a:rPr lang="es-PA"/>
              <a:t> de la ENFERMEDAD MENTAL, lo cual viene a significar que los locos son poseídos por el demonio. </a:t>
            </a:r>
            <a:endParaRPr/>
          </a:p>
          <a:p>
            <a:pPr marL="365760" indent="-283464" algn="just">
              <a:buSzPts val="2560"/>
            </a:pPr>
            <a:r>
              <a:rPr lang="es-PA"/>
              <a:t>Todo el mundo se lo creyó. Además, si el enfermo está poseído por el demonio, no puede ser curado, sino exterminado, en cárceles y en las hogueras. </a:t>
            </a:r>
            <a:endParaRPr/>
          </a:p>
          <a:p>
            <a:pPr marL="365760" indent="-192024">
              <a:buNone/>
            </a:pPr>
            <a:endParaRPr sz="1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2"/>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25" name="Google Shape;225;p32"/>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fontScale="92500" lnSpcReduction="20000"/>
          </a:bodyPr>
          <a:lstStyle/>
          <a:p>
            <a:pPr marL="365760" indent="-283464" algn="just">
              <a:spcBef>
                <a:spcPts val="0"/>
              </a:spcBef>
              <a:buSzPct val="80000"/>
            </a:pPr>
            <a:r>
              <a:rPr lang="es-PA" b="1"/>
              <a:t>TOMÁS DE AQUINO:</a:t>
            </a:r>
            <a:r>
              <a:rPr lang="es-PA"/>
              <a:t> tomó una </a:t>
            </a:r>
            <a:r>
              <a:rPr lang="es-PA" b="1"/>
              <a:t>posición organicista</a:t>
            </a:r>
            <a:r>
              <a:rPr lang="es-PA"/>
              <a:t>, es decir, que el loco tenía el problema de tener dañado un órgano.</a:t>
            </a:r>
            <a:endParaRPr/>
          </a:p>
          <a:p>
            <a:pPr marL="365760" indent="-283464" algn="just">
              <a:buSzPct val="80000"/>
            </a:pPr>
            <a:r>
              <a:rPr lang="es-PA"/>
              <a:t> Atribuía a problemas físicos la enfermedad mental. </a:t>
            </a:r>
            <a:endParaRPr/>
          </a:p>
          <a:p>
            <a:pPr marL="365760" indent="-283464" algn="just">
              <a:buSzPct val="80000"/>
            </a:pPr>
            <a:r>
              <a:rPr lang="es-PA"/>
              <a:t>Este fraile escribió acerca de ello, en las Abadías, que era dónde se concentraba todo el saber del mundo cristiano medieval. Recordamos que la Iglesia Católica concentraba, en sus manos, un poder y control enormes</a:t>
            </a:r>
            <a:endParaRPr/>
          </a:p>
          <a:p>
            <a:pPr marL="365760" indent="-133096">
              <a:buSzPct val="800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3"/>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31" name="Google Shape;231;p33"/>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a:t>SIGLO XV:</a:t>
            </a:r>
            <a:r>
              <a:rPr lang="es-PA"/>
              <a:t> pasaron por la hoguera un número superior a 150.000 personas dementes, lo cual se puede traducir, a niveles comparativos, como 8-10.000.000 de personas dementes. Eran personas ajusticiadas, por motivo de su trastorno mental.</a:t>
            </a:r>
            <a:endParaRPr/>
          </a:p>
          <a:p>
            <a:pPr marL="365760" indent="-120904">
              <a:buSzPts val="2560"/>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4"/>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37" name="Google Shape;237;p34"/>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u="sng"/>
              <a:t>RENACIMIENTO</a:t>
            </a:r>
            <a:r>
              <a:rPr lang="es-PA" b="1"/>
              <a:t>: JUAN LUIS VIVES:</a:t>
            </a:r>
            <a:r>
              <a:rPr lang="es-PA"/>
              <a:t> era un médico valenciano, afincado en Flandes. </a:t>
            </a:r>
            <a:endParaRPr/>
          </a:p>
          <a:p>
            <a:pPr marL="365760" indent="-283464" algn="just">
              <a:buSzPts val="2560"/>
            </a:pPr>
            <a:r>
              <a:rPr lang="es-PA"/>
              <a:t>Dijo, en su libro “el alivio de los pobres”, que había que aplicar tratamientos a los dementes, por lo cual murió en la hoguera. </a:t>
            </a:r>
            <a:endParaRPr/>
          </a:p>
          <a:p>
            <a:pPr marL="365760" indent="-283464" algn="just">
              <a:buSzPts val="2560"/>
            </a:pPr>
            <a:r>
              <a:rPr lang="es-PA"/>
              <a:t>De hecho, la </a:t>
            </a:r>
            <a:r>
              <a:rPr lang="es-PA" b="1"/>
              <a:t>psicopatología, como ciencia, </a:t>
            </a:r>
            <a:r>
              <a:rPr lang="es-PA"/>
              <a:t>no se instaura hasta el siglo XIX.</a:t>
            </a:r>
            <a:endParaRPr/>
          </a:p>
          <a:p>
            <a:pPr marL="365760" indent="-120904">
              <a:buSzPts val="2560"/>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5"/>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43" name="Google Shape;243;p35"/>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u="sng"/>
              <a:t>A partir del siglo XIX</a:t>
            </a:r>
            <a:r>
              <a:rPr lang="es-PA"/>
              <a:t>: siglos XVIII-XIX. Empiezan a surgir quienes opinan que la psicopatología tiene un </a:t>
            </a:r>
            <a:r>
              <a:rPr lang="es-PA" b="1"/>
              <a:t>origen anatómico</a:t>
            </a:r>
            <a:r>
              <a:rPr lang="es-PA"/>
              <a:t>, que nace en el cerebro. Por tanto, surgen las primeras </a:t>
            </a:r>
            <a:r>
              <a:rPr lang="es-PA" b="1"/>
              <a:t>ideas anatómico- psicopatológicas</a:t>
            </a:r>
            <a:r>
              <a:rPr lang="es-PA"/>
              <a:t>.</a:t>
            </a:r>
            <a:endParaRPr/>
          </a:p>
          <a:p>
            <a:pPr marL="365760" indent="-120904">
              <a:buSzPts val="256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6"/>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49" name="Google Shape;249;p36"/>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a:bodyPr>
          <a:lstStyle/>
          <a:p>
            <a:pPr marL="365760" indent="-283464" algn="just">
              <a:spcBef>
                <a:spcPts val="0"/>
              </a:spcBef>
              <a:buSzPts val="2560"/>
            </a:pPr>
            <a:r>
              <a:rPr lang="es-PA" b="1" u="sng"/>
              <a:t>CORRIENTE FISIO-PATOLÓGICA:</a:t>
            </a:r>
            <a:r>
              <a:rPr lang="es-PA"/>
              <a:t> habla del </a:t>
            </a:r>
            <a:r>
              <a:rPr lang="es-PA" b="1"/>
              <a:t>sistema nervioso</a:t>
            </a:r>
            <a:r>
              <a:rPr lang="es-PA"/>
              <a:t>. Dicen que el origen del trastorno mental está en los nervios. Los nervios miden 50.000 km.s, dentro del cuerpo humano. Dicen que las personas que tienen un problema psicopatológico (“mental”), es debido a que tienen “mal” los nervios.</a:t>
            </a:r>
            <a:endParaRPr/>
          </a:p>
          <a:p>
            <a:pPr marL="365760" indent="-120904">
              <a:buSzPts val="256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7"/>
          <p:cNvSpPr txBox="1">
            <a:spLocks noGrp="1"/>
          </p:cNvSpPr>
          <p:nvPr>
            <p:ph type="title"/>
          </p:nvPr>
        </p:nvSpPr>
        <p:spPr>
          <a:xfrm>
            <a:off x="2959608" y="274638"/>
            <a:ext cx="7498080" cy="1143000"/>
          </a:xfrm>
          <a:prstGeom prst="rect">
            <a:avLst/>
          </a:prstGeom>
          <a:noFill/>
          <a:ln>
            <a:noFill/>
          </a:ln>
        </p:spPr>
        <p:txBody>
          <a:bodyPr spcFirstLastPara="1" wrap="square" lIns="91425" tIns="45700" rIns="91425" bIns="45700" anchor="ctr" anchorCtr="0">
            <a:normAutofit/>
          </a:bodyPr>
          <a:lstStyle/>
          <a:p>
            <a:pPr>
              <a:buSzPts val="4300"/>
            </a:pPr>
            <a:r>
              <a:rPr lang="es-PA" b="1"/>
              <a:t>Historia de la Psicopatología</a:t>
            </a:r>
            <a:endParaRPr/>
          </a:p>
        </p:txBody>
      </p:sp>
      <p:sp>
        <p:nvSpPr>
          <p:cNvPr id="255" name="Google Shape;255;p37"/>
          <p:cNvSpPr txBox="1">
            <a:spLocks noGrp="1"/>
          </p:cNvSpPr>
          <p:nvPr>
            <p:ph type="body" idx="1"/>
          </p:nvPr>
        </p:nvSpPr>
        <p:spPr>
          <a:xfrm>
            <a:off x="2959608" y="1447800"/>
            <a:ext cx="7498080" cy="4800600"/>
          </a:xfrm>
          <a:prstGeom prst="rect">
            <a:avLst/>
          </a:prstGeom>
          <a:noFill/>
          <a:ln>
            <a:noFill/>
          </a:ln>
        </p:spPr>
        <p:txBody>
          <a:bodyPr spcFirstLastPara="1" wrap="square" lIns="91425" tIns="45700" rIns="91425" bIns="45700" anchor="t" anchorCtr="0">
            <a:normAutofit fontScale="85000" lnSpcReduction="10000"/>
          </a:bodyPr>
          <a:lstStyle/>
          <a:p>
            <a:pPr marL="365760" indent="-283464" algn="just">
              <a:spcBef>
                <a:spcPts val="0"/>
              </a:spcBef>
              <a:buSzPct val="80000"/>
            </a:pPr>
            <a:r>
              <a:rPr lang="es-PA" b="1" u="sng"/>
              <a:t>PRINCIPIOS DEL SIGLO XX:</a:t>
            </a:r>
            <a:r>
              <a:rPr lang="es-PA"/>
              <a:t> se producen descubrimientos médicos importantes. </a:t>
            </a:r>
            <a:r>
              <a:rPr lang="es-PA" b="1"/>
              <a:t>FREUD</a:t>
            </a:r>
            <a:r>
              <a:rPr lang="es-PA"/>
              <a:t>: es un médico vienés, el inventor del psicoanálisis. Es entonces cuando la psicopatología comienza a tomar auge y a entenderse su importancia.</a:t>
            </a:r>
            <a:endParaRPr/>
          </a:p>
          <a:p>
            <a:pPr marL="365760" indent="-283464" algn="just">
              <a:buSzPct val="80000"/>
            </a:pPr>
            <a:r>
              <a:rPr lang="es-PA" b="1" u="sng"/>
              <a:t>HOY DÍA:</a:t>
            </a:r>
            <a:r>
              <a:rPr lang="es-PA"/>
              <a:t> se le llama “</a:t>
            </a:r>
            <a:r>
              <a:rPr lang="es-PA" b="1"/>
              <a:t>enfermedad mental</a:t>
            </a:r>
            <a:r>
              <a:rPr lang="es-PA"/>
              <a:t>”. Todos los profesionales de la salud dicen que es un conjunto de variables orgánicas y biológicas, además de las variables psicológicas y las variables sociales. La visión de la “enfermedad mental”, bajo un modelo integrador, se trabaja con el </a:t>
            </a:r>
            <a:r>
              <a:rPr lang="es-PA" b="1"/>
              <a:t>modelo BIO-PSICO-SOCIAL</a:t>
            </a:r>
            <a:endParaRPr/>
          </a:p>
          <a:p>
            <a:pPr marL="365760" indent="-145288">
              <a:buSzPct val="8000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119B9-90F0-9C2D-D7E7-208963218673}"/>
              </a:ext>
            </a:extLst>
          </p:cNvPr>
          <p:cNvSpPr>
            <a:spLocks noGrp="1"/>
          </p:cNvSpPr>
          <p:nvPr>
            <p:ph type="title"/>
          </p:nvPr>
        </p:nvSpPr>
        <p:spPr/>
        <p:txBody>
          <a:bodyPr>
            <a:normAutofit fontScale="90000"/>
          </a:bodyPr>
          <a:lstStyle/>
          <a:p>
            <a:r>
              <a:rPr lang="es-ES" sz="4400" spc="0" dirty="0">
                <a:effectLst/>
                <a:latin typeface="Arial MT"/>
                <a:ea typeface="Arial MT"/>
                <a:cs typeface="Arial MT"/>
              </a:rPr>
              <a:t>Evolución</a:t>
            </a:r>
            <a:r>
              <a:rPr lang="es-ES" sz="4400" spc="-65" dirty="0">
                <a:effectLst/>
                <a:latin typeface="Arial MT"/>
                <a:ea typeface="Arial MT"/>
                <a:cs typeface="Arial MT"/>
              </a:rPr>
              <a:t> </a:t>
            </a:r>
            <a:r>
              <a:rPr lang="es-ES" sz="4400" spc="0" dirty="0">
                <a:effectLst/>
                <a:latin typeface="Arial MT"/>
                <a:ea typeface="Arial MT"/>
                <a:cs typeface="Arial MT"/>
              </a:rPr>
              <a:t>histórica</a:t>
            </a:r>
            <a:r>
              <a:rPr lang="es-ES" sz="4400" spc="-65" dirty="0">
                <a:effectLst/>
                <a:latin typeface="Arial MT"/>
                <a:ea typeface="Arial MT"/>
                <a:cs typeface="Arial MT"/>
              </a:rPr>
              <a:t> </a:t>
            </a:r>
            <a:r>
              <a:rPr lang="es-ES" sz="4400" spc="0" dirty="0">
                <a:effectLst/>
                <a:latin typeface="Arial MT"/>
                <a:ea typeface="Arial MT"/>
                <a:cs typeface="Arial MT"/>
              </a:rPr>
              <a:t>de</a:t>
            </a:r>
            <a:r>
              <a:rPr lang="es-ES" sz="4400" spc="-65" dirty="0">
                <a:effectLst/>
                <a:latin typeface="Arial MT"/>
                <a:ea typeface="Arial MT"/>
                <a:cs typeface="Arial MT"/>
              </a:rPr>
              <a:t> </a:t>
            </a:r>
            <a:r>
              <a:rPr lang="es-ES" sz="4400" spc="0" dirty="0">
                <a:effectLst/>
                <a:latin typeface="Arial MT"/>
                <a:ea typeface="Arial MT"/>
                <a:cs typeface="Arial MT"/>
              </a:rPr>
              <a:t>la psicopatología infantil y </a:t>
            </a:r>
            <a:r>
              <a:rPr lang="es-ES" sz="4400" spc="-10" dirty="0">
                <a:effectLst/>
                <a:latin typeface="Arial MT"/>
                <a:ea typeface="Arial MT"/>
                <a:cs typeface="Arial MT"/>
              </a:rPr>
              <a:t>adolescente</a:t>
            </a:r>
            <a:endParaRPr lang="es-PA" dirty="0"/>
          </a:p>
        </p:txBody>
      </p:sp>
      <p:graphicFrame>
        <p:nvGraphicFramePr>
          <p:cNvPr id="4" name="Tabla 3">
            <a:extLst>
              <a:ext uri="{FF2B5EF4-FFF2-40B4-BE49-F238E27FC236}">
                <a16:creationId xmlns:a16="http://schemas.microsoft.com/office/drawing/2014/main" id="{2D5AE337-790D-DA7A-BEA0-4192CD6F9D7C}"/>
              </a:ext>
            </a:extLst>
          </p:cNvPr>
          <p:cNvGraphicFramePr>
            <a:graphicFrameLocks noGrp="1"/>
          </p:cNvGraphicFramePr>
          <p:nvPr/>
        </p:nvGraphicFramePr>
        <p:xfrm>
          <a:off x="2083337" y="1532792"/>
          <a:ext cx="9996489" cy="4846320"/>
        </p:xfrm>
        <a:graphic>
          <a:graphicData uri="http://schemas.openxmlformats.org/drawingml/2006/table">
            <a:tbl>
              <a:tblPr/>
              <a:tblGrid>
                <a:gridCol w="3332163">
                  <a:extLst>
                    <a:ext uri="{9D8B030D-6E8A-4147-A177-3AD203B41FA5}">
                      <a16:colId xmlns:a16="http://schemas.microsoft.com/office/drawing/2014/main" val="3345987317"/>
                    </a:ext>
                  </a:extLst>
                </a:gridCol>
                <a:gridCol w="3332163">
                  <a:extLst>
                    <a:ext uri="{9D8B030D-6E8A-4147-A177-3AD203B41FA5}">
                      <a16:colId xmlns:a16="http://schemas.microsoft.com/office/drawing/2014/main" val="1153841424"/>
                    </a:ext>
                  </a:extLst>
                </a:gridCol>
                <a:gridCol w="3332163">
                  <a:extLst>
                    <a:ext uri="{9D8B030D-6E8A-4147-A177-3AD203B41FA5}">
                      <a16:colId xmlns:a16="http://schemas.microsoft.com/office/drawing/2014/main" val="2766272879"/>
                    </a:ext>
                  </a:extLst>
                </a:gridCol>
              </a:tblGrid>
              <a:tr h="304800">
                <a:tc>
                  <a:txBody>
                    <a:bodyPr/>
                    <a:lstStyle/>
                    <a:p>
                      <a:r>
                        <a:rPr lang="es-PA" sz="1800" b="1"/>
                        <a:t>Período</a:t>
                      </a:r>
                      <a:endParaRPr lang="es-PA" sz="1800"/>
                    </a:p>
                  </a:txBody>
                  <a:tcPr anchor="ctr">
                    <a:lnL>
                      <a:noFill/>
                    </a:lnL>
                    <a:lnR>
                      <a:noFill/>
                    </a:lnR>
                    <a:lnT>
                      <a:noFill/>
                    </a:lnT>
                    <a:lnB>
                      <a:noFill/>
                    </a:lnB>
                  </a:tcPr>
                </a:tc>
                <a:tc>
                  <a:txBody>
                    <a:bodyPr/>
                    <a:lstStyle/>
                    <a:p>
                      <a:r>
                        <a:rPr lang="es-PA" sz="1800" b="1"/>
                        <a:t>Características principales</a:t>
                      </a:r>
                      <a:endParaRPr lang="es-PA" sz="1800"/>
                    </a:p>
                  </a:txBody>
                  <a:tcPr anchor="ctr">
                    <a:lnL>
                      <a:noFill/>
                    </a:lnL>
                    <a:lnR>
                      <a:noFill/>
                    </a:lnR>
                    <a:lnT>
                      <a:noFill/>
                    </a:lnT>
                    <a:lnB>
                      <a:noFill/>
                    </a:lnB>
                  </a:tcPr>
                </a:tc>
                <a:tc>
                  <a:txBody>
                    <a:bodyPr/>
                    <a:lstStyle/>
                    <a:p>
                      <a:r>
                        <a:rPr lang="es-PA" sz="1800" b="1"/>
                        <a:t>Autores clave</a:t>
                      </a:r>
                      <a:endParaRPr lang="es-PA" sz="1800"/>
                    </a:p>
                  </a:txBody>
                  <a:tcPr anchor="ctr">
                    <a:lnL>
                      <a:noFill/>
                    </a:lnL>
                    <a:lnR>
                      <a:noFill/>
                    </a:lnR>
                    <a:lnT>
                      <a:noFill/>
                    </a:lnT>
                    <a:lnB>
                      <a:noFill/>
                    </a:lnB>
                  </a:tcPr>
                </a:tc>
                <a:extLst>
                  <a:ext uri="{0D108BD9-81ED-4DB2-BD59-A6C34878D82A}">
                    <a16:rowId xmlns:a16="http://schemas.microsoft.com/office/drawing/2014/main" val="476462143"/>
                  </a:ext>
                </a:extLst>
              </a:tr>
              <a:tr h="518160">
                <a:tc>
                  <a:txBody>
                    <a:bodyPr/>
                    <a:lstStyle/>
                    <a:p>
                      <a:r>
                        <a:rPr lang="es-PA" sz="1800"/>
                        <a:t>Antigüedad – Edad Media</a:t>
                      </a:r>
                    </a:p>
                  </a:txBody>
                  <a:tcPr anchor="ctr">
                    <a:lnL>
                      <a:noFill/>
                    </a:lnL>
                    <a:lnR>
                      <a:noFill/>
                    </a:lnR>
                    <a:lnT>
                      <a:noFill/>
                    </a:lnT>
                    <a:lnB>
                      <a:noFill/>
                    </a:lnB>
                  </a:tcPr>
                </a:tc>
                <a:tc>
                  <a:txBody>
                    <a:bodyPr/>
                    <a:lstStyle/>
                    <a:p>
                      <a:r>
                        <a:rPr lang="es-ES" sz="1800"/>
                        <a:t>Explicaciones sobrenaturales, sin diferenciación niño-adulto</a:t>
                      </a:r>
                    </a:p>
                  </a:txBody>
                  <a:tcPr anchor="ctr">
                    <a:lnL>
                      <a:noFill/>
                    </a:lnL>
                    <a:lnR>
                      <a:noFill/>
                    </a:lnR>
                    <a:lnT>
                      <a:noFill/>
                    </a:lnT>
                    <a:lnB>
                      <a:noFill/>
                    </a:lnB>
                  </a:tcPr>
                </a:tc>
                <a:tc>
                  <a:txBody>
                    <a:bodyPr/>
                    <a:lstStyle/>
                    <a:p>
                      <a:r>
                        <a:rPr lang="es-PA" sz="1800"/>
                        <a:t>—</a:t>
                      </a:r>
                    </a:p>
                  </a:txBody>
                  <a:tcPr anchor="ctr">
                    <a:lnL>
                      <a:noFill/>
                    </a:lnL>
                    <a:lnR>
                      <a:noFill/>
                    </a:lnR>
                    <a:lnT>
                      <a:noFill/>
                    </a:lnT>
                    <a:lnB>
                      <a:noFill/>
                    </a:lnB>
                  </a:tcPr>
                </a:tc>
                <a:extLst>
                  <a:ext uri="{0D108BD9-81ED-4DB2-BD59-A6C34878D82A}">
                    <a16:rowId xmlns:a16="http://schemas.microsoft.com/office/drawing/2014/main" val="3735397845"/>
                  </a:ext>
                </a:extLst>
              </a:tr>
              <a:tr h="518160">
                <a:tc>
                  <a:txBody>
                    <a:bodyPr/>
                    <a:lstStyle/>
                    <a:p>
                      <a:r>
                        <a:rPr lang="es-PA" sz="1800" dirty="0"/>
                        <a:t>Siglos XVII–XVIII</a:t>
                      </a:r>
                    </a:p>
                  </a:txBody>
                  <a:tcPr anchor="ctr">
                    <a:lnL>
                      <a:noFill/>
                    </a:lnL>
                    <a:lnR>
                      <a:noFill/>
                    </a:lnR>
                    <a:lnT>
                      <a:noFill/>
                    </a:lnT>
                    <a:lnB>
                      <a:noFill/>
                    </a:lnB>
                  </a:tcPr>
                </a:tc>
                <a:tc>
                  <a:txBody>
                    <a:bodyPr/>
                    <a:lstStyle/>
                    <a:p>
                      <a:r>
                        <a:rPr lang="es-ES" sz="1800"/>
                        <a:t>Enfoque humanista, niño como ser en desarrollo</a:t>
                      </a:r>
                    </a:p>
                  </a:txBody>
                  <a:tcPr anchor="ctr">
                    <a:lnL>
                      <a:noFill/>
                    </a:lnL>
                    <a:lnR>
                      <a:noFill/>
                    </a:lnR>
                    <a:lnT>
                      <a:noFill/>
                    </a:lnT>
                    <a:lnB>
                      <a:noFill/>
                    </a:lnB>
                  </a:tcPr>
                </a:tc>
                <a:tc>
                  <a:txBody>
                    <a:bodyPr/>
                    <a:lstStyle/>
                    <a:p>
                      <a:r>
                        <a:rPr lang="es-PA" sz="1800"/>
                        <a:t>John Locke</a:t>
                      </a:r>
                    </a:p>
                  </a:txBody>
                  <a:tcPr anchor="ctr">
                    <a:lnL>
                      <a:noFill/>
                    </a:lnL>
                    <a:lnR>
                      <a:noFill/>
                    </a:lnR>
                    <a:lnT>
                      <a:noFill/>
                    </a:lnT>
                    <a:lnB>
                      <a:noFill/>
                    </a:lnB>
                  </a:tcPr>
                </a:tc>
                <a:extLst>
                  <a:ext uri="{0D108BD9-81ED-4DB2-BD59-A6C34878D82A}">
                    <a16:rowId xmlns:a16="http://schemas.microsoft.com/office/drawing/2014/main" val="1218829562"/>
                  </a:ext>
                </a:extLst>
              </a:tr>
              <a:tr h="304800">
                <a:tc>
                  <a:txBody>
                    <a:bodyPr/>
                    <a:lstStyle/>
                    <a:p>
                      <a:r>
                        <a:rPr lang="es-PA" sz="1800"/>
                        <a:t>Siglo XIX</a:t>
                      </a:r>
                    </a:p>
                  </a:txBody>
                  <a:tcPr anchor="ctr">
                    <a:lnL>
                      <a:noFill/>
                    </a:lnL>
                    <a:lnR>
                      <a:noFill/>
                    </a:lnR>
                    <a:lnT>
                      <a:noFill/>
                    </a:lnT>
                    <a:lnB>
                      <a:noFill/>
                    </a:lnB>
                  </a:tcPr>
                </a:tc>
                <a:tc>
                  <a:txBody>
                    <a:bodyPr/>
                    <a:lstStyle/>
                    <a:p>
                      <a:r>
                        <a:rPr lang="es-ES" sz="1800"/>
                        <a:t>Inicio científico, estudios en infancia</a:t>
                      </a:r>
                    </a:p>
                  </a:txBody>
                  <a:tcPr anchor="ctr">
                    <a:lnL>
                      <a:noFill/>
                    </a:lnL>
                    <a:lnR>
                      <a:noFill/>
                    </a:lnR>
                    <a:lnT>
                      <a:noFill/>
                    </a:lnT>
                    <a:lnB>
                      <a:noFill/>
                    </a:lnB>
                  </a:tcPr>
                </a:tc>
                <a:tc>
                  <a:txBody>
                    <a:bodyPr/>
                    <a:lstStyle/>
                    <a:p>
                      <a:r>
                        <a:rPr lang="es-PA" sz="1800"/>
                        <a:t>Jean-Marc-Gaspard Itard</a:t>
                      </a:r>
                    </a:p>
                  </a:txBody>
                  <a:tcPr anchor="ctr">
                    <a:lnL>
                      <a:noFill/>
                    </a:lnL>
                    <a:lnR>
                      <a:noFill/>
                    </a:lnR>
                    <a:lnT>
                      <a:noFill/>
                    </a:lnT>
                    <a:lnB>
                      <a:noFill/>
                    </a:lnB>
                  </a:tcPr>
                </a:tc>
                <a:extLst>
                  <a:ext uri="{0D108BD9-81ED-4DB2-BD59-A6C34878D82A}">
                    <a16:rowId xmlns:a16="http://schemas.microsoft.com/office/drawing/2014/main" val="2647012822"/>
                  </a:ext>
                </a:extLst>
              </a:tr>
              <a:tr h="518160">
                <a:tc>
                  <a:txBody>
                    <a:bodyPr/>
                    <a:lstStyle/>
                    <a:p>
                      <a:r>
                        <a:rPr lang="es-PA" sz="1800"/>
                        <a:t>Inicios siglo XX</a:t>
                      </a:r>
                    </a:p>
                  </a:txBody>
                  <a:tcPr anchor="ctr">
                    <a:lnL>
                      <a:noFill/>
                    </a:lnL>
                    <a:lnR>
                      <a:noFill/>
                    </a:lnR>
                    <a:lnT>
                      <a:noFill/>
                    </a:lnT>
                    <a:lnB>
                      <a:noFill/>
                    </a:lnB>
                  </a:tcPr>
                </a:tc>
                <a:tc>
                  <a:txBody>
                    <a:bodyPr/>
                    <a:lstStyle/>
                    <a:p>
                      <a:r>
                        <a:rPr lang="es-ES" sz="1800"/>
                        <a:t>Psicoanálisis, importancia de la infancia</a:t>
                      </a:r>
                    </a:p>
                  </a:txBody>
                  <a:tcPr anchor="ctr">
                    <a:lnL>
                      <a:noFill/>
                    </a:lnL>
                    <a:lnR>
                      <a:noFill/>
                    </a:lnR>
                    <a:lnT>
                      <a:noFill/>
                    </a:lnT>
                    <a:lnB>
                      <a:noFill/>
                    </a:lnB>
                  </a:tcPr>
                </a:tc>
                <a:tc>
                  <a:txBody>
                    <a:bodyPr/>
                    <a:lstStyle/>
                    <a:p>
                      <a:r>
                        <a:rPr lang="es-PA" sz="1800"/>
                        <a:t>Sigmund Freud, Anna Freud, Melanie Klein</a:t>
                      </a:r>
                    </a:p>
                  </a:txBody>
                  <a:tcPr anchor="ctr">
                    <a:lnL>
                      <a:noFill/>
                    </a:lnL>
                    <a:lnR>
                      <a:noFill/>
                    </a:lnR>
                    <a:lnT>
                      <a:noFill/>
                    </a:lnT>
                    <a:lnB>
                      <a:noFill/>
                    </a:lnB>
                  </a:tcPr>
                </a:tc>
                <a:extLst>
                  <a:ext uri="{0D108BD9-81ED-4DB2-BD59-A6C34878D82A}">
                    <a16:rowId xmlns:a16="http://schemas.microsoft.com/office/drawing/2014/main" val="3320355718"/>
                  </a:ext>
                </a:extLst>
              </a:tr>
              <a:tr h="304800">
                <a:tc>
                  <a:txBody>
                    <a:bodyPr/>
                    <a:lstStyle/>
                    <a:p>
                      <a:r>
                        <a:rPr lang="es-PA" sz="1800"/>
                        <a:t>Mediados siglo XX</a:t>
                      </a:r>
                    </a:p>
                  </a:txBody>
                  <a:tcPr anchor="ctr">
                    <a:lnL>
                      <a:noFill/>
                    </a:lnL>
                    <a:lnR>
                      <a:noFill/>
                    </a:lnR>
                    <a:lnT>
                      <a:noFill/>
                    </a:lnT>
                    <a:lnB>
                      <a:noFill/>
                    </a:lnB>
                  </a:tcPr>
                </a:tc>
                <a:tc>
                  <a:txBody>
                    <a:bodyPr/>
                    <a:lstStyle/>
                    <a:p>
                      <a:r>
                        <a:rPr lang="es-PA" sz="1800"/>
                        <a:t>Teorías del desarrollo, aprendizaje</a:t>
                      </a:r>
                    </a:p>
                  </a:txBody>
                  <a:tcPr anchor="ctr">
                    <a:lnL>
                      <a:noFill/>
                    </a:lnL>
                    <a:lnR>
                      <a:noFill/>
                    </a:lnR>
                    <a:lnT>
                      <a:noFill/>
                    </a:lnT>
                    <a:lnB>
                      <a:noFill/>
                    </a:lnB>
                  </a:tcPr>
                </a:tc>
                <a:tc>
                  <a:txBody>
                    <a:bodyPr/>
                    <a:lstStyle/>
                    <a:p>
                      <a:r>
                        <a:rPr lang="es-PA" sz="1800"/>
                        <a:t>Jean Piaget, Lev Vygotsky</a:t>
                      </a:r>
                    </a:p>
                  </a:txBody>
                  <a:tcPr anchor="ctr">
                    <a:lnL>
                      <a:noFill/>
                    </a:lnL>
                    <a:lnR>
                      <a:noFill/>
                    </a:lnR>
                    <a:lnT>
                      <a:noFill/>
                    </a:lnT>
                    <a:lnB>
                      <a:noFill/>
                    </a:lnB>
                  </a:tcPr>
                </a:tc>
                <a:extLst>
                  <a:ext uri="{0D108BD9-81ED-4DB2-BD59-A6C34878D82A}">
                    <a16:rowId xmlns:a16="http://schemas.microsoft.com/office/drawing/2014/main" val="3501524589"/>
                  </a:ext>
                </a:extLst>
              </a:tr>
              <a:tr h="518160">
                <a:tc>
                  <a:txBody>
                    <a:bodyPr/>
                    <a:lstStyle/>
                    <a:p>
                      <a:r>
                        <a:rPr lang="es-PA" sz="1800"/>
                        <a:t>Finales siglo XX</a:t>
                      </a:r>
                    </a:p>
                  </a:txBody>
                  <a:tcPr anchor="ctr">
                    <a:lnL>
                      <a:noFill/>
                    </a:lnL>
                    <a:lnR>
                      <a:noFill/>
                    </a:lnR>
                    <a:lnT>
                      <a:noFill/>
                    </a:lnT>
                    <a:lnB>
                      <a:noFill/>
                    </a:lnB>
                  </a:tcPr>
                </a:tc>
                <a:tc>
                  <a:txBody>
                    <a:bodyPr/>
                    <a:lstStyle/>
                    <a:p>
                      <a:r>
                        <a:rPr lang="es-PA" sz="1800"/>
                        <a:t>Clasificación diagnóstica, enfoque biopsicosocial</a:t>
                      </a:r>
                    </a:p>
                  </a:txBody>
                  <a:tcPr anchor="ctr">
                    <a:lnL>
                      <a:noFill/>
                    </a:lnL>
                    <a:lnR>
                      <a:noFill/>
                    </a:lnR>
                    <a:lnT>
                      <a:noFill/>
                    </a:lnT>
                    <a:lnB>
                      <a:noFill/>
                    </a:lnB>
                  </a:tcPr>
                </a:tc>
                <a:tc>
                  <a:txBody>
                    <a:bodyPr/>
                    <a:lstStyle/>
                    <a:p>
                      <a:r>
                        <a:rPr lang="es-PA" sz="1800"/>
                        <a:t>DSM-5</a:t>
                      </a:r>
                    </a:p>
                  </a:txBody>
                  <a:tcPr anchor="ctr">
                    <a:lnL>
                      <a:noFill/>
                    </a:lnL>
                    <a:lnR>
                      <a:noFill/>
                    </a:lnR>
                    <a:lnT>
                      <a:noFill/>
                    </a:lnT>
                    <a:lnB>
                      <a:noFill/>
                    </a:lnB>
                  </a:tcPr>
                </a:tc>
                <a:extLst>
                  <a:ext uri="{0D108BD9-81ED-4DB2-BD59-A6C34878D82A}">
                    <a16:rowId xmlns:a16="http://schemas.microsoft.com/office/drawing/2014/main" val="3222427795"/>
                  </a:ext>
                </a:extLst>
              </a:tr>
              <a:tr h="518160">
                <a:tc>
                  <a:txBody>
                    <a:bodyPr/>
                    <a:lstStyle/>
                    <a:p>
                      <a:r>
                        <a:rPr lang="es-PA" sz="1800"/>
                        <a:t>Siglo XXI</a:t>
                      </a:r>
                    </a:p>
                  </a:txBody>
                  <a:tcPr anchor="ctr">
                    <a:lnL>
                      <a:noFill/>
                    </a:lnL>
                    <a:lnR>
                      <a:noFill/>
                    </a:lnR>
                    <a:lnT>
                      <a:noFill/>
                    </a:lnT>
                    <a:lnB>
                      <a:noFill/>
                    </a:lnB>
                  </a:tcPr>
                </a:tc>
                <a:tc>
                  <a:txBody>
                    <a:bodyPr/>
                    <a:lstStyle/>
                    <a:p>
                      <a:r>
                        <a:rPr lang="es-PA" sz="1800"/>
                        <a:t>Neurociencia, prevención, enfoque integral</a:t>
                      </a:r>
                    </a:p>
                  </a:txBody>
                  <a:tcPr anchor="ctr">
                    <a:lnL>
                      <a:noFill/>
                    </a:lnL>
                    <a:lnR>
                      <a:noFill/>
                    </a:lnR>
                    <a:lnT>
                      <a:noFill/>
                    </a:lnT>
                    <a:lnB>
                      <a:noFill/>
                    </a:lnB>
                  </a:tcPr>
                </a:tc>
                <a:tc>
                  <a:txBody>
                    <a:bodyPr/>
                    <a:lstStyle/>
                    <a:p>
                      <a:r>
                        <a:rPr lang="es-PA" sz="1800" dirty="0"/>
                        <a:t>—</a:t>
                      </a:r>
                    </a:p>
                  </a:txBody>
                  <a:tcPr anchor="ctr">
                    <a:lnL>
                      <a:noFill/>
                    </a:lnL>
                    <a:lnR>
                      <a:noFill/>
                    </a:lnR>
                    <a:lnT>
                      <a:noFill/>
                    </a:lnT>
                    <a:lnB>
                      <a:noFill/>
                    </a:lnB>
                  </a:tcPr>
                </a:tc>
                <a:extLst>
                  <a:ext uri="{0D108BD9-81ED-4DB2-BD59-A6C34878D82A}">
                    <a16:rowId xmlns:a16="http://schemas.microsoft.com/office/drawing/2014/main" val="2051692819"/>
                  </a:ext>
                </a:extLst>
              </a:tr>
            </a:tbl>
          </a:graphicData>
        </a:graphic>
      </p:graphicFrame>
    </p:spTree>
    <p:extLst>
      <p:ext uri="{BB962C8B-B14F-4D97-AF65-F5344CB8AC3E}">
        <p14:creationId xmlns:p14="http://schemas.microsoft.com/office/powerpoint/2010/main" val="471911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CAF9B5-CFD3-866F-3CA9-2E9F02AB1E26}"/>
              </a:ext>
            </a:extLst>
          </p:cNvPr>
          <p:cNvSpPr>
            <a:spLocks noGrp="1"/>
          </p:cNvSpPr>
          <p:nvPr>
            <p:ph type="title"/>
          </p:nvPr>
        </p:nvSpPr>
        <p:spPr>
          <a:xfrm>
            <a:off x="2194560" y="2666145"/>
            <a:ext cx="9997440" cy="1143000"/>
          </a:xfrm>
        </p:spPr>
        <p:txBody>
          <a:bodyPr>
            <a:normAutofit fontScale="90000"/>
          </a:bodyPr>
          <a:lstStyle/>
          <a:p>
            <a:pPr marL="342900" marR="884555" lvl="0" indent="-342900">
              <a:spcAft>
                <a:spcPts val="0"/>
              </a:spcAft>
              <a:tabLst>
                <a:tab pos="530860" algn="l"/>
              </a:tabLst>
            </a:pPr>
            <a:r>
              <a:rPr lang="es-ES" sz="1800" spc="0" dirty="0">
                <a:effectLst/>
                <a:latin typeface="Arial MT"/>
                <a:ea typeface="Arial MT"/>
                <a:cs typeface="Arial MT"/>
              </a:rPr>
              <a:t> </a:t>
            </a:r>
            <a:br>
              <a:rPr lang="es-PA" sz="6000" spc="0" dirty="0">
                <a:effectLst/>
                <a:latin typeface="Arial MT"/>
                <a:ea typeface="Arial MT"/>
                <a:cs typeface="Arial MT"/>
              </a:rPr>
            </a:br>
            <a:r>
              <a:rPr lang="es-ES" sz="6000" spc="0" dirty="0">
                <a:effectLst/>
                <a:latin typeface="Arial MT"/>
                <a:ea typeface="Arial MT"/>
                <a:cs typeface="Arial MT"/>
              </a:rPr>
              <a:t>Factores de riesgo y protección </a:t>
            </a:r>
            <a:r>
              <a:rPr lang="es-ES" sz="6000" spc="-25" dirty="0">
                <a:effectLst/>
                <a:latin typeface="Arial MT"/>
                <a:ea typeface="Arial MT"/>
                <a:cs typeface="Arial MT"/>
              </a:rPr>
              <a:t>en</a:t>
            </a:r>
            <a:br>
              <a:rPr lang="es-PA" sz="6000" spc="0" dirty="0">
                <a:effectLst/>
                <a:latin typeface="Arial MT"/>
                <a:ea typeface="Arial MT"/>
                <a:cs typeface="Arial MT"/>
              </a:rPr>
            </a:br>
            <a:r>
              <a:rPr lang="es-ES" sz="6000" dirty="0">
                <a:effectLst/>
                <a:latin typeface="Arial MT"/>
                <a:ea typeface="Arial MT"/>
                <a:cs typeface="Arial MT"/>
              </a:rPr>
              <a:t>el</a:t>
            </a:r>
            <a:r>
              <a:rPr lang="es-ES" sz="6000" spc="-40" dirty="0">
                <a:effectLst/>
                <a:latin typeface="Arial MT"/>
                <a:ea typeface="Arial MT"/>
                <a:cs typeface="Arial MT"/>
              </a:rPr>
              <a:t> </a:t>
            </a:r>
            <a:r>
              <a:rPr lang="es-ES" sz="6000" dirty="0">
                <a:effectLst/>
                <a:latin typeface="Arial MT"/>
                <a:ea typeface="Arial MT"/>
                <a:cs typeface="Arial MT"/>
              </a:rPr>
              <a:t>desarrollo</a:t>
            </a:r>
            <a:r>
              <a:rPr lang="es-ES" sz="6000" spc="-40" dirty="0">
                <a:effectLst/>
                <a:latin typeface="Arial MT"/>
                <a:ea typeface="Arial MT"/>
                <a:cs typeface="Arial MT"/>
              </a:rPr>
              <a:t> </a:t>
            </a:r>
            <a:r>
              <a:rPr lang="es-ES" sz="6000" dirty="0">
                <a:effectLst/>
                <a:latin typeface="Arial MT"/>
                <a:ea typeface="Arial MT"/>
                <a:cs typeface="Arial MT"/>
              </a:rPr>
              <a:t>de</a:t>
            </a:r>
            <a:r>
              <a:rPr lang="es-ES" sz="6000" spc="-40" dirty="0">
                <a:effectLst/>
                <a:latin typeface="Arial MT"/>
                <a:ea typeface="Arial MT"/>
                <a:cs typeface="Arial MT"/>
              </a:rPr>
              <a:t> </a:t>
            </a:r>
            <a:r>
              <a:rPr lang="es-ES" sz="6000" dirty="0">
                <a:effectLst/>
                <a:latin typeface="Arial MT"/>
                <a:ea typeface="Arial MT"/>
                <a:cs typeface="Arial MT"/>
              </a:rPr>
              <a:t>la</a:t>
            </a:r>
            <a:r>
              <a:rPr lang="es-ES" sz="6000" spc="-40" dirty="0">
                <a:effectLst/>
                <a:latin typeface="Arial MT"/>
                <a:ea typeface="Arial MT"/>
                <a:cs typeface="Arial MT"/>
              </a:rPr>
              <a:t> </a:t>
            </a:r>
            <a:r>
              <a:rPr lang="es-ES" sz="6000" dirty="0">
                <a:effectLst/>
                <a:latin typeface="Arial MT"/>
                <a:ea typeface="Arial MT"/>
                <a:cs typeface="Arial MT"/>
              </a:rPr>
              <a:t>psicopatología</a:t>
            </a:r>
            <a:r>
              <a:rPr lang="es-ES" sz="6000" spc="-40" dirty="0">
                <a:effectLst/>
                <a:latin typeface="Arial MT"/>
                <a:ea typeface="Arial MT"/>
                <a:cs typeface="Arial MT"/>
              </a:rPr>
              <a:t> </a:t>
            </a:r>
            <a:r>
              <a:rPr lang="es-ES" sz="6000" dirty="0">
                <a:effectLst/>
                <a:latin typeface="Arial MT"/>
                <a:ea typeface="Arial MT"/>
                <a:cs typeface="Arial MT"/>
              </a:rPr>
              <a:t>en niños y adolescentes</a:t>
            </a:r>
            <a:endParaRPr lang="es-PA" sz="6000" dirty="0"/>
          </a:p>
        </p:txBody>
      </p:sp>
    </p:spTree>
    <p:extLst>
      <p:ext uri="{BB962C8B-B14F-4D97-AF65-F5344CB8AC3E}">
        <p14:creationId xmlns:p14="http://schemas.microsoft.com/office/powerpoint/2010/main" val="17630299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86FEAB-3801-470C-AB74-C6C512B13FFA}"/>
              </a:ext>
            </a:extLst>
          </p:cNvPr>
          <p:cNvSpPr>
            <a:spLocks noGrp="1"/>
          </p:cNvSpPr>
          <p:nvPr>
            <p:ph type="title"/>
          </p:nvPr>
        </p:nvSpPr>
        <p:spPr>
          <a:xfrm>
            <a:off x="1808072" y="612262"/>
            <a:ext cx="10209393" cy="1143000"/>
          </a:xfrm>
        </p:spPr>
        <p:txBody>
          <a:bodyPr>
            <a:normAutofit fontScale="90000"/>
          </a:bodyPr>
          <a:lstStyle/>
          <a:p>
            <a:r>
              <a:rPr lang="es-ES" sz="4400" spc="0" dirty="0">
                <a:effectLst/>
                <a:latin typeface="Arial MT"/>
                <a:ea typeface="Arial MT"/>
                <a:cs typeface="Arial MT"/>
              </a:rPr>
              <a:t>Factores de riesgo y protección </a:t>
            </a:r>
            <a:r>
              <a:rPr lang="es-ES" sz="4400" spc="-25" dirty="0">
                <a:effectLst/>
                <a:latin typeface="Arial MT"/>
                <a:ea typeface="Arial MT"/>
                <a:cs typeface="Arial MT"/>
              </a:rPr>
              <a:t>en</a:t>
            </a:r>
            <a:br>
              <a:rPr lang="es-PA" sz="4400" spc="0" dirty="0">
                <a:effectLst/>
                <a:latin typeface="Arial MT"/>
                <a:ea typeface="Arial MT"/>
                <a:cs typeface="Arial MT"/>
              </a:rPr>
            </a:br>
            <a:r>
              <a:rPr lang="es-ES" sz="4400" dirty="0">
                <a:effectLst/>
                <a:latin typeface="Arial MT"/>
                <a:ea typeface="Arial MT"/>
                <a:cs typeface="Arial MT"/>
              </a:rPr>
              <a:t>el</a:t>
            </a:r>
            <a:r>
              <a:rPr lang="es-ES" sz="4400" spc="-40" dirty="0">
                <a:effectLst/>
                <a:latin typeface="Arial MT"/>
                <a:ea typeface="Arial MT"/>
                <a:cs typeface="Arial MT"/>
              </a:rPr>
              <a:t> </a:t>
            </a:r>
            <a:r>
              <a:rPr lang="es-ES" sz="4400" dirty="0">
                <a:effectLst/>
                <a:latin typeface="Arial MT"/>
                <a:ea typeface="Arial MT"/>
                <a:cs typeface="Arial MT"/>
              </a:rPr>
              <a:t>desarrollo</a:t>
            </a:r>
            <a:r>
              <a:rPr lang="es-ES" sz="4400" spc="-40" dirty="0">
                <a:effectLst/>
                <a:latin typeface="Arial MT"/>
                <a:ea typeface="Arial MT"/>
                <a:cs typeface="Arial MT"/>
              </a:rPr>
              <a:t> </a:t>
            </a:r>
            <a:r>
              <a:rPr lang="es-ES" sz="4400" dirty="0">
                <a:effectLst/>
                <a:latin typeface="Arial MT"/>
                <a:ea typeface="Arial MT"/>
                <a:cs typeface="Arial MT"/>
              </a:rPr>
              <a:t>de</a:t>
            </a:r>
            <a:r>
              <a:rPr lang="es-ES" sz="4400" spc="-40" dirty="0">
                <a:effectLst/>
                <a:latin typeface="Arial MT"/>
                <a:ea typeface="Arial MT"/>
                <a:cs typeface="Arial MT"/>
              </a:rPr>
              <a:t> </a:t>
            </a:r>
            <a:r>
              <a:rPr lang="es-ES" sz="4400" dirty="0">
                <a:effectLst/>
                <a:latin typeface="Arial MT"/>
                <a:ea typeface="Arial MT"/>
                <a:cs typeface="Arial MT"/>
              </a:rPr>
              <a:t>la</a:t>
            </a:r>
            <a:r>
              <a:rPr lang="es-ES" sz="4400" spc="-40" dirty="0">
                <a:effectLst/>
                <a:latin typeface="Arial MT"/>
                <a:ea typeface="Arial MT"/>
                <a:cs typeface="Arial MT"/>
              </a:rPr>
              <a:t> </a:t>
            </a:r>
            <a:r>
              <a:rPr lang="es-ES" sz="4400" dirty="0">
                <a:effectLst/>
                <a:latin typeface="Arial MT"/>
                <a:ea typeface="Arial MT"/>
                <a:cs typeface="Arial MT"/>
              </a:rPr>
              <a:t>psicopatología</a:t>
            </a:r>
            <a:r>
              <a:rPr lang="es-ES" sz="4400" spc="-40" dirty="0">
                <a:effectLst/>
                <a:latin typeface="Arial MT"/>
                <a:ea typeface="Arial MT"/>
                <a:cs typeface="Arial MT"/>
              </a:rPr>
              <a:t> </a:t>
            </a:r>
            <a:r>
              <a:rPr lang="es-ES" sz="4400" dirty="0">
                <a:effectLst/>
                <a:latin typeface="Arial MT"/>
                <a:ea typeface="Arial MT"/>
                <a:cs typeface="Arial MT"/>
              </a:rPr>
              <a:t>en niños y adolescentes</a:t>
            </a:r>
            <a:endParaRPr lang="es-PA" dirty="0"/>
          </a:p>
        </p:txBody>
      </p:sp>
      <p:graphicFrame>
        <p:nvGraphicFramePr>
          <p:cNvPr id="4" name="Tabla 3">
            <a:extLst>
              <a:ext uri="{FF2B5EF4-FFF2-40B4-BE49-F238E27FC236}">
                <a16:creationId xmlns:a16="http://schemas.microsoft.com/office/drawing/2014/main" id="{FA1DDA8B-16BB-416F-E6B9-B55D9C00EB82}"/>
              </a:ext>
            </a:extLst>
          </p:cNvPr>
          <p:cNvGraphicFramePr>
            <a:graphicFrameLocks noGrp="1"/>
          </p:cNvGraphicFramePr>
          <p:nvPr>
            <p:extLst>
              <p:ext uri="{D42A27DB-BD31-4B8C-83A1-F6EECF244321}">
                <p14:modId xmlns:p14="http://schemas.microsoft.com/office/powerpoint/2010/main" val="1694797690"/>
              </p:ext>
            </p:extLst>
          </p:nvPr>
        </p:nvGraphicFramePr>
        <p:xfrm>
          <a:off x="1808072" y="2293619"/>
          <a:ext cx="10102944" cy="4079044"/>
        </p:xfrm>
        <a:graphic>
          <a:graphicData uri="http://schemas.openxmlformats.org/drawingml/2006/table">
            <a:tbl>
              <a:tblPr/>
              <a:tblGrid>
                <a:gridCol w="2490172">
                  <a:extLst>
                    <a:ext uri="{9D8B030D-6E8A-4147-A177-3AD203B41FA5}">
                      <a16:colId xmlns:a16="http://schemas.microsoft.com/office/drawing/2014/main" val="1773855215"/>
                    </a:ext>
                  </a:extLst>
                </a:gridCol>
                <a:gridCol w="3806386">
                  <a:extLst>
                    <a:ext uri="{9D8B030D-6E8A-4147-A177-3AD203B41FA5}">
                      <a16:colId xmlns:a16="http://schemas.microsoft.com/office/drawing/2014/main" val="2404774847"/>
                    </a:ext>
                  </a:extLst>
                </a:gridCol>
                <a:gridCol w="3806386">
                  <a:extLst>
                    <a:ext uri="{9D8B030D-6E8A-4147-A177-3AD203B41FA5}">
                      <a16:colId xmlns:a16="http://schemas.microsoft.com/office/drawing/2014/main" val="3590488780"/>
                    </a:ext>
                  </a:extLst>
                </a:gridCol>
              </a:tblGrid>
              <a:tr h="518523">
                <a:tc>
                  <a:txBody>
                    <a:bodyPr/>
                    <a:lstStyle/>
                    <a:p>
                      <a:r>
                        <a:rPr lang="es-PA" sz="2400" b="1"/>
                        <a:t>Ámbito</a:t>
                      </a:r>
                      <a:endParaRPr lang="es-PA" sz="2400"/>
                    </a:p>
                  </a:txBody>
                  <a:tcPr anchor="ctr">
                    <a:lnL>
                      <a:noFill/>
                    </a:lnL>
                    <a:lnR>
                      <a:noFill/>
                    </a:lnR>
                    <a:lnT>
                      <a:noFill/>
                    </a:lnT>
                    <a:lnB>
                      <a:noFill/>
                    </a:lnB>
                  </a:tcPr>
                </a:tc>
                <a:tc>
                  <a:txBody>
                    <a:bodyPr/>
                    <a:lstStyle/>
                    <a:p>
                      <a:r>
                        <a:rPr lang="es-PA" sz="1600" b="1" dirty="0"/>
                        <a:t>Factores de Riesgo</a:t>
                      </a:r>
                      <a:r>
                        <a:rPr lang="es-PA" sz="1600" dirty="0"/>
                        <a:t> </a:t>
                      </a:r>
                    </a:p>
                  </a:txBody>
                  <a:tcPr anchor="ctr">
                    <a:lnL>
                      <a:noFill/>
                    </a:lnL>
                    <a:lnR>
                      <a:noFill/>
                    </a:lnR>
                    <a:lnT>
                      <a:noFill/>
                    </a:lnT>
                    <a:lnB>
                      <a:noFill/>
                    </a:lnB>
                  </a:tcPr>
                </a:tc>
                <a:tc>
                  <a:txBody>
                    <a:bodyPr/>
                    <a:lstStyle/>
                    <a:p>
                      <a:r>
                        <a:rPr lang="es-PA" sz="1600" b="1" dirty="0"/>
                        <a:t>Factores Protectores</a:t>
                      </a:r>
                      <a:r>
                        <a:rPr lang="es-PA" sz="1600" dirty="0"/>
                        <a:t> </a:t>
                      </a:r>
                    </a:p>
                  </a:txBody>
                  <a:tcPr anchor="ctr">
                    <a:lnL>
                      <a:noFill/>
                    </a:lnL>
                    <a:lnR>
                      <a:noFill/>
                    </a:lnR>
                    <a:lnT>
                      <a:noFill/>
                    </a:lnT>
                    <a:lnB>
                      <a:noFill/>
                    </a:lnB>
                  </a:tcPr>
                </a:tc>
                <a:extLst>
                  <a:ext uri="{0D108BD9-81ED-4DB2-BD59-A6C34878D82A}">
                    <a16:rowId xmlns:a16="http://schemas.microsoft.com/office/drawing/2014/main" val="2125543156"/>
                  </a:ext>
                </a:extLst>
              </a:tr>
              <a:tr h="933341">
                <a:tc>
                  <a:txBody>
                    <a:bodyPr/>
                    <a:lstStyle/>
                    <a:p>
                      <a:r>
                        <a:rPr lang="es-PA" sz="1800" b="1" dirty="0">
                          <a:highlight>
                            <a:srgbClr val="00FFFF"/>
                          </a:highlight>
                        </a:rPr>
                        <a:t>Biológicos</a:t>
                      </a:r>
                      <a:endParaRPr lang="es-PA" sz="1800" dirty="0">
                        <a:highlight>
                          <a:srgbClr val="00FFFF"/>
                        </a:highlight>
                      </a:endParaRPr>
                    </a:p>
                  </a:txBody>
                  <a:tcPr anchor="ctr">
                    <a:lnL>
                      <a:noFill/>
                    </a:lnL>
                    <a:lnR>
                      <a:noFill/>
                    </a:lnR>
                    <a:lnT>
                      <a:noFill/>
                    </a:lnT>
                    <a:lnB>
                      <a:noFill/>
                    </a:lnB>
                  </a:tcPr>
                </a:tc>
                <a:tc>
                  <a:txBody>
                    <a:bodyPr/>
                    <a:lstStyle/>
                    <a:p>
                      <a:r>
                        <a:rPr lang="es-PA" sz="1800">
                          <a:highlight>
                            <a:srgbClr val="00FFFF"/>
                          </a:highlight>
                        </a:rPr>
                        <a:t>Predisposición genética, problemas neurológicos, consumo prenatal de sustancias</a:t>
                      </a:r>
                    </a:p>
                  </a:txBody>
                  <a:tcPr anchor="ctr">
                    <a:lnL>
                      <a:noFill/>
                    </a:lnL>
                    <a:lnR>
                      <a:noFill/>
                    </a:lnR>
                    <a:lnT>
                      <a:noFill/>
                    </a:lnT>
                    <a:lnB>
                      <a:noFill/>
                    </a:lnB>
                  </a:tcPr>
                </a:tc>
                <a:tc>
                  <a:txBody>
                    <a:bodyPr/>
                    <a:lstStyle/>
                    <a:p>
                      <a:r>
                        <a:rPr lang="es-ES" sz="1800" dirty="0">
                          <a:highlight>
                            <a:srgbClr val="00FFFF"/>
                          </a:highlight>
                        </a:rPr>
                        <a:t>Buen estado de salud, desarrollo neurológico adecuado</a:t>
                      </a:r>
                    </a:p>
                  </a:txBody>
                  <a:tcPr anchor="ctr">
                    <a:lnL>
                      <a:noFill/>
                    </a:lnL>
                    <a:lnR>
                      <a:noFill/>
                    </a:lnR>
                    <a:lnT>
                      <a:noFill/>
                    </a:lnT>
                    <a:lnB>
                      <a:noFill/>
                    </a:lnB>
                  </a:tcPr>
                </a:tc>
                <a:extLst>
                  <a:ext uri="{0D108BD9-81ED-4DB2-BD59-A6C34878D82A}">
                    <a16:rowId xmlns:a16="http://schemas.microsoft.com/office/drawing/2014/main" val="525206907"/>
                  </a:ext>
                </a:extLst>
              </a:tr>
              <a:tr h="656795">
                <a:tc>
                  <a:txBody>
                    <a:bodyPr/>
                    <a:lstStyle/>
                    <a:p>
                      <a:r>
                        <a:rPr lang="es-PA" sz="1800" b="1"/>
                        <a:t>Familiares</a:t>
                      </a:r>
                      <a:endParaRPr lang="es-PA" sz="1800"/>
                    </a:p>
                  </a:txBody>
                  <a:tcPr anchor="ctr">
                    <a:lnL>
                      <a:noFill/>
                    </a:lnL>
                    <a:lnR>
                      <a:noFill/>
                    </a:lnR>
                    <a:lnT>
                      <a:noFill/>
                    </a:lnT>
                    <a:lnB>
                      <a:noFill/>
                    </a:lnB>
                  </a:tcPr>
                </a:tc>
                <a:tc>
                  <a:txBody>
                    <a:bodyPr/>
                    <a:lstStyle/>
                    <a:p>
                      <a:r>
                        <a:rPr lang="es-PA" sz="1800"/>
                        <a:t>Violencia, negligencia, conflictos familiares, apego inseguro</a:t>
                      </a:r>
                    </a:p>
                  </a:txBody>
                  <a:tcPr anchor="ctr">
                    <a:lnL>
                      <a:noFill/>
                    </a:lnL>
                    <a:lnR>
                      <a:noFill/>
                    </a:lnR>
                    <a:lnT>
                      <a:noFill/>
                    </a:lnT>
                    <a:lnB>
                      <a:noFill/>
                    </a:lnB>
                  </a:tcPr>
                </a:tc>
                <a:tc>
                  <a:txBody>
                    <a:bodyPr/>
                    <a:lstStyle/>
                    <a:p>
                      <a:r>
                        <a:rPr lang="es-ES" sz="1800" dirty="0"/>
                        <a:t>Apego seguro, apoyo emocional, estabilidad familiar</a:t>
                      </a:r>
                    </a:p>
                  </a:txBody>
                  <a:tcPr anchor="ctr">
                    <a:lnL>
                      <a:noFill/>
                    </a:lnL>
                    <a:lnR>
                      <a:noFill/>
                    </a:lnR>
                    <a:lnT>
                      <a:noFill/>
                    </a:lnT>
                    <a:lnB>
                      <a:noFill/>
                    </a:lnB>
                  </a:tcPr>
                </a:tc>
                <a:extLst>
                  <a:ext uri="{0D108BD9-81ED-4DB2-BD59-A6C34878D82A}">
                    <a16:rowId xmlns:a16="http://schemas.microsoft.com/office/drawing/2014/main" val="3536363360"/>
                  </a:ext>
                </a:extLst>
              </a:tr>
              <a:tr h="656795">
                <a:tc>
                  <a:txBody>
                    <a:bodyPr/>
                    <a:lstStyle/>
                    <a:p>
                      <a:r>
                        <a:rPr lang="es-PA" sz="1800" b="1" dirty="0">
                          <a:highlight>
                            <a:srgbClr val="00FFFF"/>
                          </a:highlight>
                        </a:rPr>
                        <a:t>Psicológicos</a:t>
                      </a:r>
                      <a:endParaRPr lang="es-PA" sz="1800" dirty="0">
                        <a:highlight>
                          <a:srgbClr val="00FFFF"/>
                        </a:highlight>
                      </a:endParaRPr>
                    </a:p>
                  </a:txBody>
                  <a:tcPr anchor="ctr">
                    <a:lnL>
                      <a:noFill/>
                    </a:lnL>
                    <a:lnR>
                      <a:noFill/>
                    </a:lnR>
                    <a:lnT>
                      <a:noFill/>
                    </a:lnT>
                    <a:lnB>
                      <a:noFill/>
                    </a:lnB>
                  </a:tcPr>
                </a:tc>
                <a:tc>
                  <a:txBody>
                    <a:bodyPr/>
                    <a:lstStyle/>
                    <a:p>
                      <a:r>
                        <a:rPr lang="es-ES" sz="1800">
                          <a:highlight>
                            <a:srgbClr val="00FFFF"/>
                          </a:highlight>
                        </a:rPr>
                        <a:t>Baja autoestima, dificultades emocionales, impulsividad</a:t>
                      </a:r>
                    </a:p>
                  </a:txBody>
                  <a:tcPr anchor="ctr">
                    <a:lnL>
                      <a:noFill/>
                    </a:lnL>
                    <a:lnR>
                      <a:noFill/>
                    </a:lnR>
                    <a:lnT>
                      <a:noFill/>
                    </a:lnT>
                    <a:lnB>
                      <a:noFill/>
                    </a:lnB>
                  </a:tcPr>
                </a:tc>
                <a:tc>
                  <a:txBody>
                    <a:bodyPr/>
                    <a:lstStyle/>
                    <a:p>
                      <a:r>
                        <a:rPr lang="es-ES" sz="1800" dirty="0">
                          <a:highlight>
                            <a:srgbClr val="00FFFF"/>
                          </a:highlight>
                        </a:rPr>
                        <a:t>Buena regulación emocional, autoestima positiva</a:t>
                      </a:r>
                    </a:p>
                  </a:txBody>
                  <a:tcPr anchor="ctr">
                    <a:lnL>
                      <a:noFill/>
                    </a:lnL>
                    <a:lnR>
                      <a:noFill/>
                    </a:lnR>
                    <a:lnT>
                      <a:noFill/>
                    </a:lnT>
                    <a:lnB>
                      <a:noFill/>
                    </a:lnB>
                  </a:tcPr>
                </a:tc>
                <a:extLst>
                  <a:ext uri="{0D108BD9-81ED-4DB2-BD59-A6C34878D82A}">
                    <a16:rowId xmlns:a16="http://schemas.microsoft.com/office/drawing/2014/main" val="3108860720"/>
                  </a:ext>
                </a:extLst>
              </a:tr>
              <a:tr h="656795">
                <a:tc>
                  <a:txBody>
                    <a:bodyPr/>
                    <a:lstStyle/>
                    <a:p>
                      <a:r>
                        <a:rPr lang="es-PA" sz="1800" b="1"/>
                        <a:t>Sociales</a:t>
                      </a:r>
                      <a:endParaRPr lang="es-PA" sz="1800"/>
                    </a:p>
                  </a:txBody>
                  <a:tcPr anchor="ctr">
                    <a:lnL>
                      <a:noFill/>
                    </a:lnL>
                    <a:lnR>
                      <a:noFill/>
                    </a:lnR>
                    <a:lnT>
                      <a:noFill/>
                    </a:lnT>
                    <a:lnB>
                      <a:noFill/>
                    </a:lnB>
                  </a:tcPr>
                </a:tc>
                <a:tc>
                  <a:txBody>
                    <a:bodyPr/>
                    <a:lstStyle/>
                    <a:p>
                      <a:r>
                        <a:rPr lang="es-PA" sz="1800"/>
                        <a:t>Pobreza, bullying, aislamiento social</a:t>
                      </a:r>
                    </a:p>
                  </a:txBody>
                  <a:tcPr anchor="ctr">
                    <a:lnL>
                      <a:noFill/>
                    </a:lnL>
                    <a:lnR>
                      <a:noFill/>
                    </a:lnR>
                    <a:lnT>
                      <a:noFill/>
                    </a:lnT>
                    <a:lnB>
                      <a:noFill/>
                    </a:lnB>
                  </a:tcPr>
                </a:tc>
                <a:tc>
                  <a:txBody>
                    <a:bodyPr/>
                    <a:lstStyle/>
                    <a:p>
                      <a:r>
                        <a:rPr lang="es-ES" sz="1800" dirty="0"/>
                        <a:t>Redes de apoyo, amigos, integración social</a:t>
                      </a:r>
                    </a:p>
                  </a:txBody>
                  <a:tcPr anchor="ctr">
                    <a:lnL>
                      <a:noFill/>
                    </a:lnL>
                    <a:lnR>
                      <a:noFill/>
                    </a:lnR>
                    <a:lnT>
                      <a:noFill/>
                    </a:lnT>
                    <a:lnB>
                      <a:noFill/>
                    </a:lnB>
                  </a:tcPr>
                </a:tc>
                <a:extLst>
                  <a:ext uri="{0D108BD9-81ED-4DB2-BD59-A6C34878D82A}">
                    <a16:rowId xmlns:a16="http://schemas.microsoft.com/office/drawing/2014/main" val="2613166829"/>
                  </a:ext>
                </a:extLst>
              </a:tr>
              <a:tr h="656795">
                <a:tc>
                  <a:txBody>
                    <a:bodyPr/>
                    <a:lstStyle/>
                    <a:p>
                      <a:r>
                        <a:rPr lang="es-PA" sz="1800" b="1" dirty="0">
                          <a:highlight>
                            <a:srgbClr val="00FFFF"/>
                          </a:highlight>
                        </a:rPr>
                        <a:t>Escolares</a:t>
                      </a:r>
                      <a:endParaRPr lang="es-PA" sz="1800" dirty="0">
                        <a:highlight>
                          <a:srgbClr val="00FFFF"/>
                        </a:highlight>
                      </a:endParaRPr>
                    </a:p>
                  </a:txBody>
                  <a:tcPr anchor="ctr">
                    <a:lnL>
                      <a:noFill/>
                    </a:lnL>
                    <a:lnR>
                      <a:noFill/>
                    </a:lnR>
                    <a:lnT>
                      <a:noFill/>
                    </a:lnT>
                    <a:lnB>
                      <a:noFill/>
                    </a:lnB>
                  </a:tcPr>
                </a:tc>
                <a:tc>
                  <a:txBody>
                    <a:bodyPr/>
                    <a:lstStyle/>
                    <a:p>
                      <a:r>
                        <a:rPr lang="es-ES" sz="1800">
                          <a:highlight>
                            <a:srgbClr val="00FFFF"/>
                          </a:highlight>
                        </a:rPr>
                        <a:t>Bajo rendimiento, fracaso escolar, problemas de conducta</a:t>
                      </a:r>
                    </a:p>
                  </a:txBody>
                  <a:tcPr anchor="ctr">
                    <a:lnL>
                      <a:noFill/>
                    </a:lnL>
                    <a:lnR>
                      <a:noFill/>
                    </a:lnR>
                    <a:lnT>
                      <a:noFill/>
                    </a:lnT>
                    <a:lnB>
                      <a:noFill/>
                    </a:lnB>
                  </a:tcPr>
                </a:tc>
                <a:tc>
                  <a:txBody>
                    <a:bodyPr/>
                    <a:lstStyle/>
                    <a:p>
                      <a:r>
                        <a:rPr lang="es-PA" sz="1800" dirty="0">
                          <a:highlight>
                            <a:srgbClr val="00FFFF"/>
                          </a:highlight>
                        </a:rPr>
                        <a:t>Ambiente escolar positivo, apoyo docente</a:t>
                      </a:r>
                    </a:p>
                  </a:txBody>
                  <a:tcPr anchor="ctr">
                    <a:lnL>
                      <a:noFill/>
                    </a:lnL>
                    <a:lnR>
                      <a:noFill/>
                    </a:lnR>
                    <a:lnT>
                      <a:noFill/>
                    </a:lnT>
                    <a:lnB>
                      <a:noFill/>
                    </a:lnB>
                  </a:tcPr>
                </a:tc>
                <a:extLst>
                  <a:ext uri="{0D108BD9-81ED-4DB2-BD59-A6C34878D82A}">
                    <a16:rowId xmlns:a16="http://schemas.microsoft.com/office/drawing/2014/main" val="3308393740"/>
                  </a:ext>
                </a:extLst>
              </a:tr>
            </a:tbl>
          </a:graphicData>
        </a:graphic>
      </p:graphicFrame>
    </p:spTree>
    <p:extLst>
      <p:ext uri="{BB962C8B-B14F-4D97-AF65-F5344CB8AC3E}">
        <p14:creationId xmlns:p14="http://schemas.microsoft.com/office/powerpoint/2010/main" val="4122670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43386-4EBC-6422-E7D0-F295A4FA4087}"/>
              </a:ext>
            </a:extLst>
          </p:cNvPr>
          <p:cNvSpPr>
            <a:spLocks noGrp="1"/>
          </p:cNvSpPr>
          <p:nvPr>
            <p:ph type="title"/>
          </p:nvPr>
        </p:nvSpPr>
        <p:spPr/>
        <p:txBody>
          <a:bodyPr/>
          <a:lstStyle/>
          <a:p>
            <a:r>
              <a:rPr lang="es-ES" dirty="0"/>
              <a:t>TALLER </a:t>
            </a:r>
            <a:endParaRPr lang="es-PA" dirty="0"/>
          </a:p>
        </p:txBody>
      </p:sp>
      <p:sp>
        <p:nvSpPr>
          <p:cNvPr id="3" name="Marcador de texto 2">
            <a:extLst>
              <a:ext uri="{FF2B5EF4-FFF2-40B4-BE49-F238E27FC236}">
                <a16:creationId xmlns:a16="http://schemas.microsoft.com/office/drawing/2014/main" id="{C7391BDF-A40B-2B5B-E434-00189C8B4F6D}"/>
              </a:ext>
            </a:extLst>
          </p:cNvPr>
          <p:cNvSpPr>
            <a:spLocks noGrp="1"/>
          </p:cNvSpPr>
          <p:nvPr>
            <p:ph type="body" idx="1"/>
          </p:nvPr>
        </p:nvSpPr>
        <p:spPr/>
        <p:txBody>
          <a:bodyPr/>
          <a:lstStyle/>
          <a:p>
            <a:pPr marL="137160" indent="0">
              <a:buNone/>
            </a:pPr>
            <a:r>
              <a:rPr lang="es-ES" dirty="0"/>
              <a:t>REFUGIO SUBTERRANEO</a:t>
            </a:r>
            <a:endParaRPr lang="es-PA" dirty="0"/>
          </a:p>
        </p:txBody>
      </p:sp>
      <p:pic>
        <p:nvPicPr>
          <p:cNvPr id="2050" name="Picture 2" descr="PSICOPATOLOGÍA | Mind Map">
            <a:extLst>
              <a:ext uri="{FF2B5EF4-FFF2-40B4-BE49-F238E27FC236}">
                <a16:creationId xmlns:a16="http://schemas.microsoft.com/office/drawing/2014/main" id="{0419E344-1540-04DC-75FA-7B0039EA4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8046" y="2460747"/>
            <a:ext cx="7213598" cy="3606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2266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24034C-8529-ECE3-2544-5467E6C5C626}"/>
              </a:ext>
            </a:extLst>
          </p:cNvPr>
          <p:cNvSpPr>
            <a:spLocks noGrp="1"/>
          </p:cNvSpPr>
          <p:nvPr>
            <p:ph type="title"/>
          </p:nvPr>
        </p:nvSpPr>
        <p:spPr>
          <a:xfrm>
            <a:off x="1773467" y="963955"/>
            <a:ext cx="9997440" cy="1143000"/>
          </a:xfrm>
        </p:spPr>
        <p:txBody>
          <a:bodyPr/>
          <a:lstStyle/>
          <a:p>
            <a:r>
              <a:rPr lang="es-ES" dirty="0"/>
              <a:t>CONCLUSIONES</a:t>
            </a:r>
            <a:endParaRPr lang="es-PA" dirty="0"/>
          </a:p>
        </p:txBody>
      </p:sp>
      <p:sp>
        <p:nvSpPr>
          <p:cNvPr id="3" name="Marcador de texto 2">
            <a:extLst>
              <a:ext uri="{FF2B5EF4-FFF2-40B4-BE49-F238E27FC236}">
                <a16:creationId xmlns:a16="http://schemas.microsoft.com/office/drawing/2014/main" id="{1F6BF658-5AE4-8434-2C22-2B4CF7DB5E79}"/>
              </a:ext>
            </a:extLst>
          </p:cNvPr>
          <p:cNvSpPr>
            <a:spLocks noGrp="1"/>
          </p:cNvSpPr>
          <p:nvPr>
            <p:ph type="body" idx="1"/>
          </p:nvPr>
        </p:nvSpPr>
        <p:spPr>
          <a:xfrm>
            <a:off x="1646858" y="2587283"/>
            <a:ext cx="9997440" cy="4800600"/>
          </a:xfrm>
        </p:spPr>
        <p:txBody>
          <a:bodyPr/>
          <a:lstStyle/>
          <a:p>
            <a:pPr marL="137160" indent="0" algn="just">
              <a:buNone/>
            </a:pPr>
            <a:r>
              <a:rPr lang="es-ES" dirty="0"/>
              <a:t>La psicopatología infantil no solo identifica problemas, sino que busca comprender el desarrollo del niño para intervenir de manera adecuada y oportuna.</a:t>
            </a:r>
            <a:endParaRPr lang="es-PA" dirty="0"/>
          </a:p>
        </p:txBody>
      </p:sp>
    </p:spTree>
    <p:extLst>
      <p:ext uri="{BB962C8B-B14F-4D97-AF65-F5344CB8AC3E}">
        <p14:creationId xmlns:p14="http://schemas.microsoft.com/office/powerpoint/2010/main" val="2457159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D64125-87CF-0125-0235-57BB4F37CFBF}"/>
              </a:ext>
            </a:extLst>
          </p:cNvPr>
          <p:cNvSpPr>
            <a:spLocks noGrp="1"/>
          </p:cNvSpPr>
          <p:nvPr>
            <p:ph type="title"/>
          </p:nvPr>
        </p:nvSpPr>
        <p:spPr>
          <a:xfrm>
            <a:off x="2194560" y="1683434"/>
            <a:ext cx="9997440" cy="1143000"/>
          </a:xfrm>
        </p:spPr>
        <p:txBody>
          <a:bodyPr/>
          <a:lstStyle/>
          <a:p>
            <a:r>
              <a:rPr lang="es-ES" dirty="0"/>
              <a:t>ASIGNACION –UNIDAD I</a:t>
            </a:r>
            <a:endParaRPr lang="es-PA" dirty="0"/>
          </a:p>
        </p:txBody>
      </p:sp>
      <p:sp>
        <p:nvSpPr>
          <p:cNvPr id="3" name="Marcador de texto 2">
            <a:extLst>
              <a:ext uri="{FF2B5EF4-FFF2-40B4-BE49-F238E27FC236}">
                <a16:creationId xmlns:a16="http://schemas.microsoft.com/office/drawing/2014/main" id="{B25113E4-BDE4-DA10-BFCA-041E57BF3D6B}"/>
              </a:ext>
            </a:extLst>
          </p:cNvPr>
          <p:cNvSpPr>
            <a:spLocks noGrp="1"/>
          </p:cNvSpPr>
          <p:nvPr>
            <p:ph type="body" idx="1"/>
          </p:nvPr>
        </p:nvSpPr>
        <p:spPr>
          <a:xfrm>
            <a:off x="1576519" y="2826434"/>
            <a:ext cx="9997440" cy="4800600"/>
          </a:xfrm>
        </p:spPr>
        <p:txBody>
          <a:bodyPr>
            <a:normAutofit/>
          </a:bodyPr>
          <a:lstStyle/>
          <a:p>
            <a:pPr>
              <a:buFont typeface="Wingdings" panose="05000000000000000000" pitchFamily="2" charset="2"/>
              <a:buChar char="§"/>
            </a:pPr>
            <a:r>
              <a:rPr lang="es-ES" sz="4800" dirty="0"/>
              <a:t>MAPA MENTAL</a:t>
            </a:r>
            <a:endParaRPr lang="es-PA" sz="4800" dirty="0"/>
          </a:p>
        </p:txBody>
      </p:sp>
    </p:spTree>
    <p:extLst>
      <p:ext uri="{BB962C8B-B14F-4D97-AF65-F5344CB8AC3E}">
        <p14:creationId xmlns:p14="http://schemas.microsoft.com/office/powerpoint/2010/main" val="8969573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PSICOPATOLOGÍA INFANTIL | Dennn Valero | uDocz">
            <a:extLst>
              <a:ext uri="{FF2B5EF4-FFF2-40B4-BE49-F238E27FC236}">
                <a16:creationId xmlns:a16="http://schemas.microsoft.com/office/drawing/2014/main" id="{9E3FC282-5C2C-5649-C842-1BBAFB07A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533" y="117817"/>
            <a:ext cx="7882936" cy="4437185"/>
          </a:xfrm>
          <a:prstGeom prst="rect">
            <a:avLst/>
          </a:prstGeom>
          <a:noFill/>
          <a:extLst>
            <a:ext uri="{909E8E84-426E-40DD-AFC4-6F175D3DCCD1}">
              <a14:hiddenFill xmlns:a14="http://schemas.microsoft.com/office/drawing/2010/main">
                <a:solidFill>
                  <a:srgbClr val="FFFFFF"/>
                </a:solidFill>
              </a14:hiddenFill>
            </a:ext>
          </a:extLst>
        </p:spPr>
      </p:pic>
      <p:pic>
        <p:nvPicPr>
          <p:cNvPr id="22530" name="Picture 2" descr="Imágenes gifs de Gracia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3768383"/>
            <a:ext cx="5715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71293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124200" y="1085851"/>
            <a:ext cx="5772150" cy="4637452"/>
          </a:xfrm>
          <a:prstGeom prst="rect">
            <a:avLst/>
          </a:prstGeom>
        </p:spPr>
      </p:pic>
    </p:spTree>
    <p:extLst>
      <p:ext uri="{BB962C8B-B14F-4D97-AF65-F5344CB8AC3E}">
        <p14:creationId xmlns:p14="http://schemas.microsoft.com/office/powerpoint/2010/main" val="3125562994"/>
      </p:ext>
    </p:extLst>
  </p:cSld>
  <p:clrMapOvr>
    <a:masterClrMapping/>
  </p:clrMapOvr>
</p:sld>
</file>

<file path=ppt/theme/theme1.xml><?xml version="1.0" encoding="utf-8"?>
<a:theme xmlns:a="http://schemas.openxmlformats.org/drawingml/2006/main" name="Solsticio">
  <a:themeElements>
    <a:clrScheme name="Opulento">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443</TotalTime>
  <Words>2491</Words>
  <Application>Microsoft Office PowerPoint</Application>
  <PresentationFormat>Panorámica</PresentationFormat>
  <Paragraphs>234</Paragraphs>
  <Slides>60</Slides>
  <Notes>30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60</vt:i4>
      </vt:variant>
    </vt:vector>
  </HeadingPairs>
  <TitlesOfParts>
    <vt:vector size="71" baseType="lpstr">
      <vt:lpstr>Georgia</vt:lpstr>
      <vt:lpstr>Arial</vt:lpstr>
      <vt:lpstr>Calibri</vt:lpstr>
      <vt:lpstr>Prompt Medium</vt:lpstr>
      <vt:lpstr>Gill Sans</vt:lpstr>
      <vt:lpstr>Arial MT</vt:lpstr>
      <vt:lpstr>Noto Sans Symbols</vt:lpstr>
      <vt:lpstr>Wingdings</vt:lpstr>
      <vt:lpstr>Mukta Light</vt:lpstr>
      <vt:lpstr>ADLaM Display</vt:lpstr>
      <vt:lpstr>Solsticio</vt:lpstr>
      <vt:lpstr>  INTRODUCCIÓN A LA PSICOPATOLOGÍA INFANTIL Y ADOLESCENTES</vt:lpstr>
      <vt:lpstr>DOCENTE</vt:lpstr>
      <vt:lpstr>DOCENTE</vt:lpstr>
      <vt:lpstr>DINAMICA DE PRESENTACION</vt:lpstr>
      <vt:lpstr>UNIDAD 1</vt:lpstr>
      <vt:lpstr>Desarrollo del sistema nervioso central. </vt:lpstr>
      <vt:lpstr>El Sistema Nervioso Central (SNC)</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El cerebro y su funcionamiento en la edad infantil. </vt:lpstr>
      <vt:lpstr>¿Cómo funciona en la infancia? </vt:lpstr>
      <vt:lpstr>Formación de conexiones (sinapsis) </vt:lpstr>
      <vt:lpstr>Desarrollo por áreas </vt:lpstr>
      <vt:lpstr>Características del funcionamiento infantil </vt:lpstr>
      <vt:lpstr>EL CEREBRO INFANTIL</vt:lpstr>
      <vt:lpstr>Conceptos y definiciones de psicopatología en niños y adolescentes. </vt:lpstr>
      <vt:lpstr>¿Qué es la psicopatología infantil y adolescente? </vt:lpstr>
      <vt:lpstr>Principales trastornos en niños y adolescentes </vt:lpstr>
      <vt:lpstr>Características importantes </vt:lpstr>
      <vt:lpstr>Evolución histórica de la psicopatología infantil y adolescente. </vt:lpstr>
      <vt:lpstr>PSICOPATOLOGIA</vt:lpstr>
      <vt:lpstr>PSICOPATOLOGIA</vt:lpstr>
      <vt:lpstr>PSICOPATOLOGIA</vt:lpstr>
      <vt:lpstr>PSICOPATOLOGIA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Historia de la Psicopatología</vt:lpstr>
      <vt:lpstr>Evolución histórica de la psicopatología infantil y adolescente</vt:lpstr>
      <vt:lpstr>  Factores de riesgo y protección en el desarrollo de la psicopatología en niños y adolescentes</vt:lpstr>
      <vt:lpstr>Factores de riesgo y protección en el desarrollo de la psicopatología en niños y adolescentes</vt:lpstr>
      <vt:lpstr>TALLER </vt:lpstr>
      <vt:lpstr>CONCLUSIONES</vt:lpstr>
      <vt:lpstr>ASIGNACION –UNIDAD I</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PSICOPATOLOGIA</dc:title>
  <dc:creator>DELL</dc:creator>
  <cp:lastModifiedBy>waabrego - William Abrego</cp:lastModifiedBy>
  <cp:revision>28</cp:revision>
  <dcterms:modified xsi:type="dcterms:W3CDTF">2026-06-02T02:43:42Z</dcterms:modified>
</cp:coreProperties>
</file>